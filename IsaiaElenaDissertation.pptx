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317" r:id="rId5"/>
    <p:sldId id="308" r:id="rId6"/>
    <p:sldId id="325" r:id="rId7"/>
    <p:sldId id="327" r:id="rId8"/>
    <p:sldId id="330" r:id="rId9"/>
    <p:sldId id="331" r:id="rId10"/>
    <p:sldId id="309" r:id="rId11"/>
    <p:sldId id="263" r:id="rId12"/>
    <p:sldId id="320" r:id="rId13"/>
    <p:sldId id="322" r:id="rId14"/>
    <p:sldId id="32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F088EF-7D55-2142-A21E-A89D13B86440}" v="185" dt="2026-07-01T08:42:49.942"/>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52"/>
    <p:restoredTop sz="86941"/>
  </p:normalViewPr>
  <p:slideViewPr>
    <p:cSldViewPr snapToGrid="0">
      <p:cViewPr varScale="1">
        <p:scale>
          <a:sx n="104" d="100"/>
          <a:sy n="104" d="100"/>
        </p:scale>
        <p:origin x="1456" y="192"/>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7/1/26</a:t>
            </a:fld>
            <a:endParaRPr lang="en-US"/>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7/1/26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256D5-4239-DC6A-7C7A-54F80F9DA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3CB07-C224-C7D4-88DB-F277B3096E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36CEFA-C70E-A25C-4CD2-A41E1EAC11ED}"/>
              </a:ext>
            </a:extLst>
          </p:cNvPr>
          <p:cNvSpPr>
            <a:spLocks noGrp="1"/>
          </p:cNvSpPr>
          <p:nvPr>
            <p:ph type="body" idx="1"/>
          </p:nvPr>
        </p:nvSpPr>
        <p:spPr/>
        <p:txBody>
          <a:bodyPr/>
          <a:lstStyle/>
          <a:p>
            <a:r>
              <a:rPr lang="en-US"/>
              <a:t>Depending on the institution or service, some examples of plaintext include email messages, word processor files, patient medical history, employee personal data, or ATM and credit card transaction information.</a:t>
            </a:r>
          </a:p>
          <a:p>
            <a:r>
              <a:rPr lang="en-US"/>
              <a:t>Homomorphic encryption was defined as a form of encryption where a specific algebraic operation performed on plaintext is equivalent to another algebraic operation performed on its ciphertext. In mathematics, these operations are called mappings or functions, and they are operation preserving (OP) mappings. Let (G, o) and (H, ∗) be two groups. An OP mapping h : (G, o) → (H, ∗) is called a homomorphism from (G, o) to (H, ∗). The h function is an operation that preserves the structure from one set of data to another.</a:t>
            </a:r>
            <a:endParaRPr lang="en-US" dirty="0"/>
          </a:p>
        </p:txBody>
      </p:sp>
      <p:sp>
        <p:nvSpPr>
          <p:cNvPr id="4" name="Slide Number Placeholder 3">
            <a:extLst>
              <a:ext uri="{FF2B5EF4-FFF2-40B4-BE49-F238E27FC236}">
                <a16:creationId xmlns:a16="http://schemas.microsoft.com/office/drawing/2014/main" id="{FD744613-B699-D8CD-2546-BEE1CB536700}"/>
              </a:ext>
            </a:extLst>
          </p:cNvPr>
          <p:cNvSpPr>
            <a:spLocks noGrp="1"/>
          </p:cNvSpPr>
          <p:nvPr>
            <p:ph type="sldNum" sz="quarter" idx="5"/>
          </p:nvPr>
        </p:nvSpPr>
        <p:spPr/>
        <p:txBody>
          <a:bodyPr/>
          <a:lstStyle/>
          <a:p>
            <a:fld id="{7C366290-4595-5745-A50F-D5EC13BAC604}" type="slidenum">
              <a:rPr lang="en-US" noProof="0" smtClean="0"/>
              <a:t>3</a:t>
            </a:fld>
            <a:endParaRPr lang="en-US" noProof="0"/>
          </a:p>
        </p:txBody>
      </p:sp>
    </p:spTree>
    <p:extLst>
      <p:ext uri="{BB962C8B-B14F-4D97-AF65-F5344CB8AC3E}">
        <p14:creationId xmlns:p14="http://schemas.microsoft.com/office/powerpoint/2010/main" val="2778686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8D721-3D57-715C-297F-E9ADEE9F1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84707-806C-F825-D2C6-125B030A7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B1BC7-5143-FCD3-F641-6262B5371764}"/>
              </a:ext>
            </a:extLst>
          </p:cNvPr>
          <p:cNvSpPr>
            <a:spLocks noGrp="1"/>
          </p:cNvSpPr>
          <p:nvPr>
            <p:ph type="body" idx="1"/>
          </p:nvPr>
        </p:nvSpPr>
        <p:spPr/>
        <p:txBody>
          <a:bodyPr/>
          <a:lstStyle/>
          <a:p>
            <a:r>
              <a:rPr lang="en-US"/>
              <a:t>Brakerski and Vaikuntanathan, Fanand and Vercauteren, Cheon, Kim, Kim and Song</a:t>
            </a:r>
          </a:p>
          <a:p>
            <a:r>
              <a:rPr lang="en-US"/>
              <a:t>Partial, oarecum, complet</a:t>
            </a:r>
            <a:endParaRPr lang="en-US" dirty="0"/>
          </a:p>
        </p:txBody>
      </p:sp>
      <p:sp>
        <p:nvSpPr>
          <p:cNvPr id="4" name="Slide Number Placeholder 3">
            <a:extLst>
              <a:ext uri="{FF2B5EF4-FFF2-40B4-BE49-F238E27FC236}">
                <a16:creationId xmlns:a16="http://schemas.microsoft.com/office/drawing/2014/main" id="{D617C8DE-07E1-90E6-74AB-D722FBC6D31B}"/>
              </a:ext>
            </a:extLst>
          </p:cNvPr>
          <p:cNvSpPr>
            <a:spLocks noGrp="1"/>
          </p:cNvSpPr>
          <p:nvPr>
            <p:ph type="sldNum" sz="quarter" idx="5"/>
          </p:nvPr>
        </p:nvSpPr>
        <p:spPr/>
        <p:txBody>
          <a:bodyPr/>
          <a:lstStyle/>
          <a:p>
            <a:fld id="{7C366290-4595-5745-A50F-D5EC13BAC604}" type="slidenum">
              <a:rPr lang="en-US" noProof="0" smtClean="0"/>
              <a:t>4</a:t>
            </a:fld>
            <a:endParaRPr lang="en-US" noProof="0"/>
          </a:p>
        </p:txBody>
      </p:sp>
    </p:spTree>
    <p:extLst>
      <p:ext uri="{BB962C8B-B14F-4D97-AF65-F5344CB8AC3E}">
        <p14:creationId xmlns:p14="http://schemas.microsoft.com/office/powerpoint/2010/main" val="3268448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21ED1-95EB-DE51-F925-47A2998B6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3CC99-2AD2-6A11-7C10-A42513EFB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F8ABD-0349-7A3F-4446-22843B2748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14E04B-E675-B428-CC23-0668DA5AA656}"/>
              </a:ext>
            </a:extLst>
          </p:cNvPr>
          <p:cNvSpPr>
            <a:spLocks noGrp="1"/>
          </p:cNvSpPr>
          <p:nvPr>
            <p:ph type="sldNum" sz="quarter" idx="5"/>
          </p:nvPr>
        </p:nvSpPr>
        <p:spPr/>
        <p:txBody>
          <a:bodyPr/>
          <a:lstStyle/>
          <a:p>
            <a:fld id="{7C366290-4595-5745-A50F-D5EC13BAC604}" type="slidenum">
              <a:rPr lang="en-US" noProof="0" smtClean="0"/>
              <a:t>5</a:t>
            </a:fld>
            <a:endParaRPr lang="en-US" noProof="0"/>
          </a:p>
        </p:txBody>
      </p:sp>
    </p:spTree>
    <p:extLst>
      <p:ext uri="{BB962C8B-B14F-4D97-AF65-F5344CB8AC3E}">
        <p14:creationId xmlns:p14="http://schemas.microsoft.com/office/powerpoint/2010/main" val="3417116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AEFC4-3C29-DA5E-37DA-E8C14A7136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1A5389-7BD7-5433-B388-3A807EC91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32D7DC-1F83-F6F7-EFCE-9498280C6D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C99523-EA34-0AC0-0B2B-247B6D0851F2}"/>
              </a:ext>
            </a:extLst>
          </p:cNvPr>
          <p:cNvSpPr>
            <a:spLocks noGrp="1"/>
          </p:cNvSpPr>
          <p:nvPr>
            <p:ph type="sldNum" sz="quarter" idx="5"/>
          </p:nvPr>
        </p:nvSpPr>
        <p:spPr/>
        <p:txBody>
          <a:bodyPr/>
          <a:lstStyle/>
          <a:p>
            <a:fld id="{7C366290-4595-5745-A50F-D5EC13BAC604}" type="slidenum">
              <a:rPr lang="en-US" noProof="0" smtClean="0"/>
              <a:t>6</a:t>
            </a:fld>
            <a:endParaRPr lang="en-US" noProof="0"/>
          </a:p>
        </p:txBody>
      </p:sp>
    </p:spTree>
    <p:extLst>
      <p:ext uri="{BB962C8B-B14F-4D97-AF65-F5344CB8AC3E}">
        <p14:creationId xmlns:p14="http://schemas.microsoft.com/office/powerpoint/2010/main" val="211197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3600 entries</a:t>
            </a:r>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a:p>
        </p:txBody>
      </p:sp>
    </p:spTree>
    <p:extLst>
      <p:ext uri="{BB962C8B-B14F-4D97-AF65-F5344CB8AC3E}">
        <p14:creationId xmlns:p14="http://schemas.microsoft.com/office/powerpoint/2010/main" val="87366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a:p>
        </p:txBody>
      </p:sp>
    </p:spTree>
    <p:extLst>
      <p:ext uri="{BB962C8B-B14F-4D97-AF65-F5344CB8AC3E}">
        <p14:creationId xmlns:p14="http://schemas.microsoft.com/office/powerpoint/2010/main" val="2308133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O"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a:p>
        </p:txBody>
      </p:sp>
    </p:spTree>
    <p:extLst>
      <p:ext uri="{BB962C8B-B14F-4D97-AF65-F5344CB8AC3E}">
        <p14:creationId xmlns:p14="http://schemas.microsoft.com/office/powerpoint/2010/main" val="4056582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a:p>
        </p:txBody>
      </p:sp>
    </p:spTree>
    <p:extLst>
      <p:ext uri="{BB962C8B-B14F-4D97-AF65-F5344CB8AC3E}">
        <p14:creationId xmlns:p14="http://schemas.microsoft.com/office/powerpoint/2010/main" val="1200808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a:t>Click to add text</a:t>
            </a:r>
          </a:p>
          <a:p>
            <a:pPr lvl="1"/>
            <a:r>
              <a:rPr lang="en-US"/>
              <a:t>Second level</a:t>
            </a:r>
          </a:p>
          <a:p>
            <a:pPr lvl="2"/>
            <a:r>
              <a:rPr lang="en-US"/>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sldNum="0"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1033911" y="1307691"/>
            <a:ext cx="10360152" cy="2871019"/>
          </a:xfrm>
        </p:spPr>
        <p:txBody>
          <a:bodyPr anchor="ctr"/>
          <a:lstStyle/>
          <a:p>
            <a:r>
              <a:rPr lang="en-US"/>
              <a:t>Fully Homomorphic Encryption in a hospital management and analysis platform</a:t>
            </a:r>
            <a:endParaRPr lang="en-US" dirty="0"/>
          </a:p>
        </p:txBody>
      </p:sp>
      <p:sp>
        <p:nvSpPr>
          <p:cNvPr id="2" name="TextBox 1">
            <a:extLst>
              <a:ext uri="{FF2B5EF4-FFF2-40B4-BE49-F238E27FC236}">
                <a16:creationId xmlns:a16="http://schemas.microsoft.com/office/drawing/2014/main" id="{003EFCF9-5948-D16F-495F-E0A854AC290D}"/>
              </a:ext>
            </a:extLst>
          </p:cNvPr>
          <p:cNvSpPr txBox="1"/>
          <p:nvPr/>
        </p:nvSpPr>
        <p:spPr>
          <a:xfrm>
            <a:off x="1033911" y="4510566"/>
            <a:ext cx="3126657" cy="830997"/>
          </a:xfrm>
          <a:prstGeom prst="rect">
            <a:avLst/>
          </a:prstGeom>
          <a:noFill/>
        </p:spPr>
        <p:txBody>
          <a:bodyPr wrap="square" lIns="91440" tIns="45720" rIns="91440" bIns="45720" rtlCol="0" anchor="t">
            <a:spAutoFit/>
          </a:bodyPr>
          <a:lstStyle/>
          <a:p>
            <a:r>
              <a:rPr lang="en-US" sz="2400"/>
              <a:t>Supervisor</a:t>
            </a:r>
            <a:br>
              <a:rPr lang="en-US" sz="2400"/>
            </a:br>
            <a:r>
              <a:rPr lang="en-US" sz="2400"/>
              <a:t>Prof. Dr. Crivei Septimiu</a:t>
            </a:r>
            <a:endParaRPr lang="en-US" sz="2400" b="1" dirty="0"/>
          </a:p>
        </p:txBody>
      </p:sp>
      <p:sp>
        <p:nvSpPr>
          <p:cNvPr id="5" name="TextBox 4">
            <a:extLst>
              <a:ext uri="{FF2B5EF4-FFF2-40B4-BE49-F238E27FC236}">
                <a16:creationId xmlns:a16="http://schemas.microsoft.com/office/drawing/2014/main" id="{1BD73747-0AF9-EE28-EFB8-93D4BAF53CF1}"/>
              </a:ext>
            </a:extLst>
          </p:cNvPr>
          <p:cNvSpPr txBox="1"/>
          <p:nvPr/>
        </p:nvSpPr>
        <p:spPr>
          <a:xfrm>
            <a:off x="9671979" y="5550309"/>
            <a:ext cx="1722084" cy="830997"/>
          </a:xfrm>
          <a:prstGeom prst="rect">
            <a:avLst/>
          </a:prstGeom>
          <a:noFill/>
        </p:spPr>
        <p:txBody>
          <a:bodyPr wrap="square" lIns="91440" tIns="45720" rIns="91440" bIns="45720" rtlCol="0" anchor="t">
            <a:spAutoFit/>
          </a:bodyPr>
          <a:lstStyle/>
          <a:p>
            <a:pPr algn="r"/>
            <a:r>
              <a:rPr lang="en-US" sz="2400"/>
              <a:t>Author</a:t>
            </a:r>
            <a:br>
              <a:rPr lang="en-US" sz="2400"/>
            </a:br>
            <a:r>
              <a:rPr lang="en-US" sz="2400"/>
              <a:t>Isaia Elena</a:t>
            </a:r>
            <a:endParaRPr lang="en-US" sz="2400" b="1"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678426" y="403123"/>
            <a:ext cx="5641848" cy="1858297"/>
          </a:xfrm>
        </p:spPr>
        <p:txBody>
          <a:bodyPr/>
          <a:lstStyle/>
          <a:p>
            <a:r>
              <a:rPr lang="en-US"/>
              <a:t>Table of contents</a:t>
            </a:r>
          </a:p>
        </p:txBody>
      </p:sp>
      <p:sp>
        <p:nvSpPr>
          <p:cNvPr id="5" name="TextBox 4">
            <a:extLst>
              <a:ext uri="{FF2B5EF4-FFF2-40B4-BE49-F238E27FC236}">
                <a16:creationId xmlns:a16="http://schemas.microsoft.com/office/drawing/2014/main" id="{0454FB3E-62E3-566C-C44D-81CE3F005876}"/>
              </a:ext>
            </a:extLst>
          </p:cNvPr>
          <p:cNvSpPr txBox="1"/>
          <p:nvPr/>
        </p:nvSpPr>
        <p:spPr>
          <a:xfrm>
            <a:off x="550670" y="2840766"/>
            <a:ext cx="6557629" cy="3539430"/>
          </a:xfrm>
          <a:prstGeom prst="rect">
            <a:avLst/>
          </a:prstGeom>
          <a:noFill/>
        </p:spPr>
        <p:txBody>
          <a:bodyPr wrap="none" lIns="91440" tIns="45720" rIns="91440" bIns="45720" rtlCol="0" anchor="t">
            <a:spAutoFit/>
          </a:bodyPr>
          <a:lstStyle/>
          <a:p>
            <a:pPr marL="285750" indent="-285750">
              <a:buFont typeface="Arial" panose="020B0604020202020204" pitchFamily="34" charset="0"/>
              <a:buChar char="•"/>
            </a:pPr>
            <a:r>
              <a:rPr lang="en-US" sz="3200"/>
              <a:t>Homomorphism</a:t>
            </a:r>
          </a:p>
          <a:p>
            <a:pPr marL="285750" indent="-285750">
              <a:buFont typeface="Arial" panose="020B0604020202020204" pitchFamily="34" charset="0"/>
              <a:buChar char="•"/>
            </a:pPr>
            <a:r>
              <a:rPr lang="en-US" sz="3200"/>
              <a:t>Homomorphic Encryption</a:t>
            </a:r>
          </a:p>
          <a:p>
            <a:pPr marL="285750" indent="-285750">
              <a:buFont typeface="Arial" panose="020B0604020202020204" pitchFamily="34" charset="0"/>
              <a:buChar char="•"/>
            </a:pPr>
            <a:r>
              <a:rPr lang="en-US" sz="3200"/>
              <a:t>Fully Homomorphic Encryption</a:t>
            </a:r>
          </a:p>
          <a:p>
            <a:pPr marL="285750" indent="-285750">
              <a:buFont typeface="Arial" panose="020B0604020202020204" pitchFamily="34" charset="0"/>
              <a:buChar char="•"/>
            </a:pPr>
            <a:r>
              <a:rPr lang="en-US" sz="3200"/>
              <a:t>Application: MedIntel</a:t>
            </a:r>
          </a:p>
          <a:p>
            <a:pPr marL="285750" indent="-285750">
              <a:buFont typeface="Arial" panose="020B0604020202020204" pitchFamily="34" charset="0"/>
              <a:buChar char="•"/>
            </a:pPr>
            <a:r>
              <a:rPr lang="en-US" sz="3200"/>
              <a:t>Demo</a:t>
            </a:r>
          </a:p>
          <a:p>
            <a:pPr marL="285750" indent="-285750">
              <a:buFont typeface="Arial" panose="020B0604020202020204" pitchFamily="34" charset="0"/>
              <a:buChar char="•"/>
            </a:pPr>
            <a:r>
              <a:rPr lang="en-US" sz="3200"/>
              <a:t>Conclusions and future enhancements</a:t>
            </a:r>
          </a:p>
          <a:p>
            <a:pPr marL="285750" indent="-285750">
              <a:buFont typeface="Arial" panose="020B0604020202020204" pitchFamily="34" charset="0"/>
              <a:buChar char="•"/>
            </a:pPr>
            <a:r>
              <a:rPr lang="en-US" sz="3200"/>
              <a:t>Bibliography</a:t>
            </a:r>
            <a:endParaRPr lang="en-US" sz="3200" dirty="0"/>
          </a:p>
        </p:txBody>
      </p:sp>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52416-53B7-D42F-F02E-FEDFBEAC668E}"/>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4E8DFF52-7610-A3BE-CFBF-3B0E87EA3B9B}"/>
              </a:ext>
            </a:extLst>
          </p:cNvPr>
          <p:cNvSpPr txBox="1">
            <a:spLocks/>
          </p:cNvSpPr>
          <p:nvPr/>
        </p:nvSpPr>
        <p:spPr>
          <a:xfrm>
            <a:off x="547283" y="896112"/>
            <a:ext cx="8645485" cy="1024128"/>
          </a:xfrm>
          <a:prstGeom prst="rect">
            <a:avLst/>
          </a:prstGeom>
        </p:spPr>
        <p:txBody>
          <a:bodyPr vert="horz" lIns="91440" tIns="45720" rIns="91440" bIns="45720" rtlCol="0" anchor="b">
            <a:noAutofit/>
          </a:bodyPr>
          <a:lstStyle>
            <a:lvl1pPr algn="l" defTabSz="914400" rtl="0" eaLnBrk="1" latinLnBrk="0" hangingPunct="1">
              <a:lnSpc>
                <a:spcPct val="75000"/>
              </a:lnSpc>
              <a:spcBef>
                <a:spcPct val="0"/>
              </a:spcBef>
              <a:buNone/>
              <a:defRPr sz="4800" kern="1200">
                <a:solidFill>
                  <a:schemeClr val="tx1"/>
                </a:solidFill>
                <a:latin typeface="+mj-lt"/>
                <a:ea typeface="+mj-ea"/>
                <a:cs typeface="+mj-cs"/>
              </a:defRPr>
            </a:lvl1pPr>
          </a:lstStyle>
          <a:p>
            <a:r>
              <a:rPr lang="en-US"/>
              <a:t>Homomorphism</a:t>
            </a:r>
            <a:endParaRPr lang="en-US" dirty="0"/>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ECCDD501-E629-D790-BA7C-AEF8C8A3E413}"/>
                  </a:ext>
                </a:extLst>
              </p:cNvPr>
              <p:cNvSpPr txBox="1">
                <a:spLocks/>
              </p:cNvSpPr>
              <p:nvPr/>
            </p:nvSpPr>
            <p:spPr>
              <a:xfrm>
                <a:off x="802522" y="2540287"/>
                <a:ext cx="10694534" cy="384574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vert="horz" wrap="square"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400" b="1"/>
                  <a:t>Operation preserving mappings</a:t>
                </a:r>
              </a:p>
              <a:p>
                <a:pPr marL="1028700" lvl="1" indent="-342900"/>
                <a14:m>
                  <m:oMath xmlns:m="http://schemas.openxmlformats.org/officeDocument/2006/math">
                    <m:r>
                      <a:rPr lang="en-US" sz="2800" b="1" i="1" smtClean="0">
                        <a:latin typeface="Cambria Math" panose="02040503050406030204" pitchFamily="18" charset="0"/>
                      </a:rPr>
                      <m:t>𝒉</m:t>
                    </m:r>
                    <m:r>
                      <a:rPr lang="en-US" sz="2800" b="1" i="1" smtClean="0">
                        <a:latin typeface="Cambria Math" panose="02040503050406030204" pitchFamily="18" charset="0"/>
                      </a:rPr>
                      <m:t>: </m:t>
                    </m:r>
                    <m:d>
                      <m:dPr>
                        <m:ctrlPr>
                          <a:rPr lang="en-US" sz="2800" b="1" i="1" smtClean="0">
                            <a:latin typeface="Cambria Math" panose="02040503050406030204" pitchFamily="18" charset="0"/>
                          </a:rPr>
                        </m:ctrlPr>
                      </m:dPr>
                      <m:e>
                        <m:r>
                          <a:rPr lang="en-US" sz="2800" b="1" i="1" smtClean="0">
                            <a:latin typeface="Cambria Math" panose="02040503050406030204" pitchFamily="18" charset="0"/>
                          </a:rPr>
                          <m:t>𝑮</m:t>
                        </m:r>
                        <m:r>
                          <a:rPr lang="en-US" sz="2800" b="1" i="1" smtClean="0">
                            <a:latin typeface="Cambria Math" panose="02040503050406030204" pitchFamily="18" charset="0"/>
                          </a:rPr>
                          <m:t>,  ∙</m:t>
                        </m:r>
                      </m:e>
                    </m:d>
                    <m:r>
                      <a:rPr lang="en-US" sz="2800" b="1" i="1" smtClean="0">
                        <a:latin typeface="Cambria Math" panose="02040503050406030204" pitchFamily="18" charset="0"/>
                      </a:rPr>
                      <m:t>→(</m:t>
                    </m:r>
                    <m:r>
                      <a:rPr lang="en-US" sz="2800" b="1" i="1" smtClean="0">
                        <a:latin typeface="Cambria Math" panose="02040503050406030204" pitchFamily="18" charset="0"/>
                      </a:rPr>
                      <m:t>𝑯</m:t>
                    </m:r>
                    <m:r>
                      <a:rPr lang="en-US" sz="2800" b="1" i="1" smtClean="0">
                        <a:latin typeface="Cambria Math" panose="02040503050406030204" pitchFamily="18" charset="0"/>
                      </a:rPr>
                      <m:t>,  ∗) </m:t>
                    </m:r>
                  </m:oMath>
                </a14:m>
                <a:endParaRPr lang="en-US" sz="2800" b="1" dirty="0"/>
              </a:p>
              <a:p>
                <a:pPr marL="342900" indent="-342900">
                  <a:buFont typeface="Arial" panose="020B0604020202020204" pitchFamily="34" charset="0"/>
                  <a:buChar char="•"/>
                </a:pPr>
                <a:r>
                  <a:rPr lang="en-US" sz="2400" b="1"/>
                  <a:t>Example:</a:t>
                </a:r>
              </a:p>
              <a:p>
                <a:pPr marL="1028700" lvl="1" indent="-342900"/>
                <a14:m>
                  <m:oMath xmlns:m="http://schemas.openxmlformats.org/officeDocument/2006/math">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𝒙</m:t>
                    </m:r>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𝒚</m:t>
                    </m:r>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𝒛</m:t>
                    </m:r>
                    <m:r>
                      <a:rPr lang="en-US" sz="2800" b="1" i="1" smtClean="0">
                        <a:latin typeface="Cambria Math" panose="02040503050406030204" pitchFamily="18" charset="0"/>
                        <a:ea typeface="Cambria Math" panose="02040503050406030204" pitchFamily="18" charset="0"/>
                      </a:rPr>
                      <m:t>∈</m:t>
                    </m:r>
                    <m:sSup>
                      <m:sSupPr>
                        <m:ctrlPr>
                          <a:rPr lang="en-US" sz="2800" b="1" i="1" smtClean="0">
                            <a:latin typeface="Cambria Math" panose="02040503050406030204" pitchFamily="18" charset="0"/>
                            <a:ea typeface="Cambria Math" panose="02040503050406030204" pitchFamily="18" charset="0"/>
                          </a:rPr>
                        </m:ctrlPr>
                      </m:sSupPr>
                      <m:e>
                        <m:r>
                          <a:rPr lang="en-US" sz="2800" b="1" i="1">
                            <a:latin typeface="Cambria Math" panose="02040503050406030204" pitchFamily="18" charset="0"/>
                            <a:ea typeface="Cambria Math" panose="02040503050406030204" pitchFamily="18" charset="0"/>
                          </a:rPr>
                          <m:t>ℝ</m:t>
                        </m:r>
                      </m:e>
                      <m:sup>
                        <m:r>
                          <a:rPr lang="en-US" sz="2800" b="1" i="1" smtClean="0">
                            <a:latin typeface="Cambria Math" panose="02040503050406030204" pitchFamily="18" charset="0"/>
                            <a:ea typeface="Cambria Math" panose="02040503050406030204" pitchFamily="18" charset="0"/>
                          </a:rPr>
                          <m:t>+</m:t>
                        </m:r>
                      </m:sup>
                    </m:sSup>
                    <m:r>
                      <a:rPr lang="en-US" sz="2800" b="1" i="1" smtClean="0">
                        <a:latin typeface="Cambria Math" panose="02040503050406030204" pitchFamily="18" charset="0"/>
                        <a:ea typeface="Cambria Math" panose="02040503050406030204" pitchFamily="18" charset="0"/>
                      </a:rPr>
                      <m:t>,  </m:t>
                    </m:r>
                    <m:r>
                      <a:rPr lang="en-US" sz="2800" b="1" i="1" smtClean="0">
                        <a:latin typeface="Cambria Math" panose="02040503050406030204" pitchFamily="18" charset="0"/>
                        <a:ea typeface="Cambria Math" panose="02040503050406030204" pitchFamily="18" charset="0"/>
                      </a:rPr>
                      <m:t>𝒙</m:t>
                    </m:r>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𝒚</m:t>
                    </m:r>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𝒛</m:t>
                    </m:r>
                    <m:r>
                      <a:rPr lang="en-US" sz="2800" b="1" i="1" smtClean="0">
                        <a:latin typeface="Cambria Math" panose="02040503050406030204" pitchFamily="18" charset="0"/>
                        <a:ea typeface="Cambria Math" panose="02040503050406030204" pitchFamily="18" charset="0"/>
                      </a:rPr>
                      <m:t> → </m:t>
                    </m:r>
                    <m:r>
                      <a:rPr lang="en-US" sz="2800" b="1" i="1" smtClean="0">
                        <a:latin typeface="Cambria Math" panose="02040503050406030204" pitchFamily="18" charset="0"/>
                        <a:ea typeface="Cambria Math" panose="02040503050406030204" pitchFamily="18" charset="0"/>
                      </a:rPr>
                      <m:t>𝒍𝒐𝒈</m:t>
                    </m:r>
                    <m:d>
                      <m:dPr>
                        <m:ctrlPr>
                          <a:rPr lang="en-US" sz="2800" b="1" i="1" smtClean="0">
                            <a:latin typeface="Cambria Math" panose="02040503050406030204" pitchFamily="18" charset="0"/>
                            <a:ea typeface="Cambria Math" panose="02040503050406030204" pitchFamily="18" charset="0"/>
                          </a:rPr>
                        </m:ctrlPr>
                      </m:dPr>
                      <m:e>
                        <m:r>
                          <a:rPr lang="en-US" sz="2800" b="1" i="1" smtClean="0">
                            <a:latin typeface="Cambria Math" panose="02040503050406030204" pitchFamily="18" charset="0"/>
                            <a:ea typeface="Cambria Math" panose="02040503050406030204" pitchFamily="18" charset="0"/>
                          </a:rPr>
                          <m:t>𝒙</m:t>
                        </m:r>
                      </m:e>
                    </m:d>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𝒍𝒐𝒈</m:t>
                    </m:r>
                    <m:d>
                      <m:dPr>
                        <m:ctrlPr>
                          <a:rPr lang="en-US" sz="2800" b="1" i="1" smtClean="0">
                            <a:latin typeface="Cambria Math" panose="02040503050406030204" pitchFamily="18" charset="0"/>
                            <a:ea typeface="Cambria Math" panose="02040503050406030204" pitchFamily="18" charset="0"/>
                          </a:rPr>
                        </m:ctrlPr>
                      </m:dPr>
                      <m:e>
                        <m:r>
                          <a:rPr lang="en-US" sz="2800" b="1" i="1" smtClean="0">
                            <a:latin typeface="Cambria Math" panose="02040503050406030204" pitchFamily="18" charset="0"/>
                            <a:ea typeface="Cambria Math" panose="02040503050406030204" pitchFamily="18" charset="0"/>
                          </a:rPr>
                          <m:t>𝒚</m:t>
                        </m:r>
                      </m:e>
                    </m:d>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𝒍𝒐𝒈</m:t>
                    </m:r>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𝒛</m:t>
                    </m:r>
                    <m:r>
                      <a:rPr lang="en-US" sz="2800" b="1" i="1" smtClean="0">
                        <a:latin typeface="Cambria Math" panose="02040503050406030204" pitchFamily="18" charset="0"/>
                        <a:ea typeface="Cambria Math" panose="02040503050406030204" pitchFamily="18" charset="0"/>
                      </a:rPr>
                      <m:t>)</m:t>
                    </m:r>
                  </m:oMath>
                </a14:m>
                <a:endParaRPr lang="en-US" sz="2800" b="1" dirty="0"/>
              </a:p>
            </p:txBody>
          </p:sp>
        </mc:Choice>
        <mc:Fallback>
          <p:sp>
            <p:nvSpPr>
              <p:cNvPr id="7" name="Content Placeholder 2">
                <a:extLst>
                  <a:ext uri="{FF2B5EF4-FFF2-40B4-BE49-F238E27FC236}">
                    <a16:creationId xmlns:a16="http://schemas.microsoft.com/office/drawing/2014/main" id="{ECCDD501-E629-D790-BA7C-AEF8C8A3E413}"/>
                  </a:ext>
                </a:extLst>
              </p:cNvPr>
              <p:cNvSpPr txBox="1">
                <a:spLocks noRot="1" noChangeAspect="1" noMove="1" noResize="1" noEditPoints="1" noAdjustHandles="1" noChangeArrowheads="1" noChangeShapeType="1" noTextEdit="1"/>
              </p:cNvSpPr>
              <p:nvPr/>
            </p:nvSpPr>
            <p:spPr>
              <a:xfrm>
                <a:off x="802522" y="2540287"/>
                <a:ext cx="10694534" cy="384574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blipFill>
                <a:blip r:embed="rId3"/>
                <a:stretch>
                  <a:fillRect l="-830" t="-2632"/>
                </a:stretch>
              </a:blipFill>
            </p:spPr>
            <p:txBody>
              <a:bodyPr/>
              <a:lstStyle/>
              <a:p>
                <a:r>
                  <a:rPr lang="en-US">
                    <a:noFill/>
                  </a:rPr>
                  <a:t> </a:t>
                </a:r>
              </a:p>
            </p:txBody>
          </p:sp>
        </mc:Fallback>
      </mc:AlternateContent>
    </p:spTree>
    <p:extLst>
      <p:ext uri="{BB962C8B-B14F-4D97-AF65-F5344CB8AC3E}">
        <p14:creationId xmlns:p14="http://schemas.microsoft.com/office/powerpoint/2010/main" val="1091358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CA8D5E4-EDB4-631C-E80A-DF92EFA7FAA3}"/>
            </a:ext>
          </a:extLst>
        </p:cNvPr>
        <p:cNvGrpSpPr/>
        <p:nvPr/>
      </p:nvGrpSpPr>
      <p:grpSpPr>
        <a:xfrm>
          <a:off x="0" y="0"/>
          <a:ext cx="0" cy="0"/>
          <a:chOff x="0" y="0"/>
          <a:chExt cx="0" cy="0"/>
        </a:xfrm>
      </p:grpSpPr>
      <p:sp>
        <p:nvSpPr>
          <p:cNvPr id="12" name="Title 2">
            <a:extLst>
              <a:ext uri="{FF2B5EF4-FFF2-40B4-BE49-F238E27FC236}">
                <a16:creationId xmlns:a16="http://schemas.microsoft.com/office/drawing/2014/main" id="{59105196-6D9B-F20F-11FE-5513B7618A66}"/>
              </a:ext>
            </a:extLst>
          </p:cNvPr>
          <p:cNvSpPr txBox="1">
            <a:spLocks/>
          </p:cNvSpPr>
          <p:nvPr/>
        </p:nvSpPr>
        <p:spPr>
          <a:xfrm>
            <a:off x="547283" y="896112"/>
            <a:ext cx="8645485" cy="1024128"/>
          </a:xfrm>
          <a:prstGeom prst="rect">
            <a:avLst/>
          </a:prstGeom>
        </p:spPr>
        <p:txBody>
          <a:bodyPr vert="horz" lIns="91440" tIns="45720" rIns="91440" bIns="45720" rtlCol="0" anchor="b">
            <a:noAutofit/>
          </a:bodyPr>
          <a:lstStyle>
            <a:lvl1pPr algn="l" defTabSz="914400" rtl="0" eaLnBrk="1" latinLnBrk="0" hangingPunct="1">
              <a:lnSpc>
                <a:spcPct val="75000"/>
              </a:lnSpc>
              <a:spcBef>
                <a:spcPct val="0"/>
              </a:spcBef>
              <a:buNone/>
              <a:defRPr sz="4800" kern="1200">
                <a:solidFill>
                  <a:schemeClr val="tx1"/>
                </a:solidFill>
                <a:latin typeface="+mj-lt"/>
                <a:ea typeface="+mj-ea"/>
                <a:cs typeface="+mj-cs"/>
              </a:defRPr>
            </a:lvl1pPr>
          </a:lstStyle>
          <a:p>
            <a:r>
              <a:rPr lang="en-US"/>
              <a:t>Homomorphic Encryption</a:t>
            </a:r>
            <a:endParaRPr lang="en-US" dirty="0"/>
          </a:p>
        </p:txBody>
      </p:sp>
      <p:sp>
        <p:nvSpPr>
          <p:cNvPr id="4" name="Content Placeholder 2">
            <a:extLst>
              <a:ext uri="{FF2B5EF4-FFF2-40B4-BE49-F238E27FC236}">
                <a16:creationId xmlns:a16="http://schemas.microsoft.com/office/drawing/2014/main" id="{E9A067B9-C0C4-65C6-932E-EE20BA6FEAD3}"/>
              </a:ext>
            </a:extLst>
          </p:cNvPr>
          <p:cNvSpPr txBox="1">
            <a:spLocks/>
          </p:cNvSpPr>
          <p:nvPr/>
        </p:nvSpPr>
        <p:spPr>
          <a:xfrm>
            <a:off x="802522" y="2540287"/>
            <a:ext cx="10694534" cy="384574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vert="horz" wrap="square" lIns="91440" tIns="45720" rIns="91440" bIns="45720" rtlCol="0" anchor="t">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400" b="1"/>
              <a:t>Partially Homomorphic Encryption (RSA, El Gamal, Pailler)</a:t>
            </a:r>
            <a:endParaRPr lang="en-US"/>
          </a:p>
          <a:p>
            <a:pPr marL="342900" indent="-342900">
              <a:buFont typeface="Arial" panose="020B0604020202020204" pitchFamily="34" charset="0"/>
              <a:buChar char="•"/>
            </a:pPr>
            <a:r>
              <a:rPr lang="en-US" sz="2400" b="1"/>
              <a:t>Somewhat Homomorphic Encryption (BV, FV, CKKS)</a:t>
            </a:r>
            <a:endParaRPr lang="en-US"/>
          </a:p>
          <a:p>
            <a:pPr marL="342900" indent="-342900">
              <a:buFont typeface="Arial" panose="020B0604020202020204" pitchFamily="34" charset="0"/>
              <a:buChar char="•"/>
            </a:pPr>
            <a:r>
              <a:rPr lang="en-US" sz="2400" b="1"/>
              <a:t>Fully Homomorphic Encryption (Gentry, BFV, BGV; OpenFHE, Concrete, Microsoft SEAL)</a:t>
            </a:r>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algn="ctr"/>
            <a:endParaRPr lang="en-US" sz="2400" b="1"/>
          </a:p>
          <a:p>
            <a:pPr algn="ctr"/>
            <a:r>
              <a:rPr lang="en-US" sz="2400" b="1"/>
              <a:t>Fig. 1: HE operation flow [1]</a:t>
            </a:r>
            <a:endParaRPr lang="en-US"/>
          </a:p>
          <a:p>
            <a:endParaRPr lang="en-US" sz="2400" b="1" dirty="0"/>
          </a:p>
        </p:txBody>
      </p:sp>
      <p:pic>
        <p:nvPicPr>
          <p:cNvPr id="2" name="Picture 1">
            <a:extLst>
              <a:ext uri="{FF2B5EF4-FFF2-40B4-BE49-F238E27FC236}">
                <a16:creationId xmlns:a16="http://schemas.microsoft.com/office/drawing/2014/main" id="{2EC7961C-4B1E-BF1D-D345-066DBC7DBA33}"/>
              </a:ext>
            </a:extLst>
          </p:cNvPr>
          <p:cNvPicPr>
            <a:picLocks noChangeAspect="1"/>
          </p:cNvPicPr>
          <p:nvPr/>
        </p:nvPicPr>
        <p:blipFill>
          <a:blip r:embed="rId3"/>
          <a:stretch>
            <a:fillRect/>
          </a:stretch>
        </p:blipFill>
        <p:spPr>
          <a:xfrm>
            <a:off x="2503095" y="4204208"/>
            <a:ext cx="7185809" cy="1757680"/>
          </a:xfrm>
          <a:prstGeom prst="rect">
            <a:avLst/>
          </a:prstGeom>
        </p:spPr>
      </p:pic>
    </p:spTree>
    <p:extLst>
      <p:ext uri="{BB962C8B-B14F-4D97-AF65-F5344CB8AC3E}">
        <p14:creationId xmlns:p14="http://schemas.microsoft.com/office/powerpoint/2010/main" val="2567653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E236F2F-5138-E7BB-9F1D-19047420422C}"/>
            </a:ext>
          </a:extLst>
        </p:cNvPr>
        <p:cNvGrpSpPr/>
        <p:nvPr/>
      </p:nvGrpSpPr>
      <p:grpSpPr>
        <a:xfrm>
          <a:off x="0" y="0"/>
          <a:ext cx="0" cy="0"/>
          <a:chOff x="0" y="0"/>
          <a:chExt cx="0" cy="0"/>
        </a:xfrm>
      </p:grpSpPr>
      <p:sp>
        <p:nvSpPr>
          <p:cNvPr id="12" name="Title 2">
            <a:extLst>
              <a:ext uri="{FF2B5EF4-FFF2-40B4-BE49-F238E27FC236}">
                <a16:creationId xmlns:a16="http://schemas.microsoft.com/office/drawing/2014/main" id="{76B9CB7F-629A-1F69-01A3-F1C619709C65}"/>
              </a:ext>
            </a:extLst>
          </p:cNvPr>
          <p:cNvSpPr txBox="1">
            <a:spLocks/>
          </p:cNvSpPr>
          <p:nvPr/>
        </p:nvSpPr>
        <p:spPr>
          <a:xfrm>
            <a:off x="547283" y="896112"/>
            <a:ext cx="10169485" cy="1024128"/>
          </a:xfrm>
          <a:prstGeom prst="rect">
            <a:avLst/>
          </a:prstGeom>
        </p:spPr>
        <p:txBody>
          <a:bodyPr vert="horz" lIns="91440" tIns="45720" rIns="91440" bIns="45720" rtlCol="0" anchor="b">
            <a:noAutofit/>
          </a:bodyPr>
          <a:lstStyle>
            <a:lvl1pPr algn="l" defTabSz="914400" rtl="0" eaLnBrk="1" latinLnBrk="0" hangingPunct="1">
              <a:lnSpc>
                <a:spcPct val="75000"/>
              </a:lnSpc>
              <a:spcBef>
                <a:spcPct val="0"/>
              </a:spcBef>
              <a:buNone/>
              <a:defRPr sz="4800" kern="1200">
                <a:solidFill>
                  <a:schemeClr val="tx1"/>
                </a:solidFill>
                <a:latin typeface="+mj-lt"/>
                <a:ea typeface="+mj-ea"/>
                <a:cs typeface="+mj-cs"/>
              </a:defRPr>
            </a:lvl1pPr>
          </a:lstStyle>
          <a:p>
            <a:r>
              <a:rPr lang="en-US"/>
              <a:t>Fully Homomorphic Encryption</a:t>
            </a:r>
            <a:endParaRPr lang="en-US" dirty="0"/>
          </a:p>
        </p:txBody>
      </p:sp>
      <p:sp>
        <p:nvSpPr>
          <p:cNvPr id="4" name="Content Placeholder 2">
            <a:extLst>
              <a:ext uri="{FF2B5EF4-FFF2-40B4-BE49-F238E27FC236}">
                <a16:creationId xmlns:a16="http://schemas.microsoft.com/office/drawing/2014/main" id="{7F955B02-A7E0-8B76-76D0-CA15E9F2CB0F}"/>
              </a:ext>
            </a:extLst>
          </p:cNvPr>
          <p:cNvSpPr txBox="1">
            <a:spLocks/>
          </p:cNvSpPr>
          <p:nvPr/>
        </p:nvSpPr>
        <p:spPr>
          <a:xfrm>
            <a:off x="802522" y="2540287"/>
            <a:ext cx="10694534" cy="4144718"/>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vert="horz" wrap="square"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400" b="1"/>
              <a:t>Noise: leveled vs bootstrapping FHE</a:t>
            </a:r>
          </a:p>
          <a:p>
            <a:pPr marL="342900" indent="-342900">
              <a:buFont typeface="Arial" panose="020B0604020202020204" pitchFamily="34" charset="0"/>
              <a:buChar char="•"/>
            </a:pPr>
            <a:r>
              <a:rPr lang="en-US" sz="2400" b="1"/>
              <a:t>TFHE scheme – the best choice</a:t>
            </a:r>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algn="ctr"/>
            <a:r>
              <a:rPr lang="en-US" sz="2400" b="1"/>
              <a:t>Fig. 2: The three FHE goals [1]</a:t>
            </a:r>
          </a:p>
        </p:txBody>
      </p:sp>
      <p:pic>
        <p:nvPicPr>
          <p:cNvPr id="3" name="Picture 2">
            <a:extLst>
              <a:ext uri="{FF2B5EF4-FFF2-40B4-BE49-F238E27FC236}">
                <a16:creationId xmlns:a16="http://schemas.microsoft.com/office/drawing/2014/main" id="{AE176DB3-A801-60B9-692C-C0C61AC15FAC}"/>
              </a:ext>
            </a:extLst>
          </p:cNvPr>
          <p:cNvPicPr>
            <a:picLocks noChangeAspect="1"/>
          </p:cNvPicPr>
          <p:nvPr/>
        </p:nvPicPr>
        <p:blipFill>
          <a:blip r:embed="rId3"/>
          <a:stretch>
            <a:fillRect/>
          </a:stretch>
        </p:blipFill>
        <p:spPr>
          <a:xfrm>
            <a:off x="3420647" y="3929449"/>
            <a:ext cx="5350706" cy="2032439"/>
          </a:xfrm>
          <a:prstGeom prst="rect">
            <a:avLst/>
          </a:prstGeom>
        </p:spPr>
      </p:pic>
    </p:spTree>
    <p:extLst>
      <p:ext uri="{BB962C8B-B14F-4D97-AF65-F5344CB8AC3E}">
        <p14:creationId xmlns:p14="http://schemas.microsoft.com/office/powerpoint/2010/main" val="2192172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8531E72-123E-DAAA-D12F-CB3867D2533D}"/>
            </a:ext>
          </a:extLst>
        </p:cNvPr>
        <p:cNvGrpSpPr/>
        <p:nvPr/>
      </p:nvGrpSpPr>
      <p:grpSpPr>
        <a:xfrm>
          <a:off x="0" y="0"/>
          <a:ext cx="0" cy="0"/>
          <a:chOff x="0" y="0"/>
          <a:chExt cx="0" cy="0"/>
        </a:xfrm>
      </p:grpSpPr>
      <p:sp>
        <p:nvSpPr>
          <p:cNvPr id="12" name="Title 2">
            <a:extLst>
              <a:ext uri="{FF2B5EF4-FFF2-40B4-BE49-F238E27FC236}">
                <a16:creationId xmlns:a16="http://schemas.microsoft.com/office/drawing/2014/main" id="{5F823D81-89C1-F1B4-7C71-D28FF30142F1}"/>
              </a:ext>
            </a:extLst>
          </p:cNvPr>
          <p:cNvSpPr txBox="1">
            <a:spLocks/>
          </p:cNvSpPr>
          <p:nvPr/>
        </p:nvSpPr>
        <p:spPr>
          <a:xfrm>
            <a:off x="547283" y="896112"/>
            <a:ext cx="10169485" cy="1024128"/>
          </a:xfrm>
          <a:prstGeom prst="rect">
            <a:avLst/>
          </a:prstGeom>
        </p:spPr>
        <p:txBody>
          <a:bodyPr vert="horz" lIns="91440" tIns="45720" rIns="91440" bIns="45720" rtlCol="0" anchor="b">
            <a:noAutofit/>
          </a:bodyPr>
          <a:lstStyle>
            <a:lvl1pPr algn="l" defTabSz="914400" rtl="0" eaLnBrk="1" latinLnBrk="0" hangingPunct="1">
              <a:lnSpc>
                <a:spcPct val="75000"/>
              </a:lnSpc>
              <a:spcBef>
                <a:spcPct val="0"/>
              </a:spcBef>
              <a:buNone/>
              <a:defRPr sz="4800" kern="1200">
                <a:solidFill>
                  <a:schemeClr val="tx1"/>
                </a:solidFill>
                <a:latin typeface="+mj-lt"/>
                <a:ea typeface="+mj-ea"/>
                <a:cs typeface="+mj-cs"/>
              </a:defRPr>
            </a:lvl1pPr>
          </a:lstStyle>
          <a:p>
            <a:r>
              <a:rPr lang="en-US"/>
              <a:t>Fully Homomorphic Encryption</a:t>
            </a:r>
            <a:endParaRPr lang="en-US" dirty="0"/>
          </a:p>
        </p:txBody>
      </p:sp>
      <p:sp>
        <p:nvSpPr>
          <p:cNvPr id="4" name="Content Placeholder 2">
            <a:extLst>
              <a:ext uri="{FF2B5EF4-FFF2-40B4-BE49-F238E27FC236}">
                <a16:creationId xmlns:a16="http://schemas.microsoft.com/office/drawing/2014/main" id="{88E06FBD-F097-F569-A01B-7A463651DDA9}"/>
              </a:ext>
            </a:extLst>
          </p:cNvPr>
          <p:cNvSpPr txBox="1">
            <a:spLocks/>
          </p:cNvSpPr>
          <p:nvPr/>
        </p:nvSpPr>
        <p:spPr>
          <a:xfrm>
            <a:off x="802522" y="2540286"/>
            <a:ext cx="10694534" cy="4317713"/>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vert="horz" wrap="square" lIns="91440" tIns="45720" rIns="91440" bIns="45720" rtlCol="0" anchor="t">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400" b="1"/>
              <a:t>FHE usages in practice</a:t>
            </a:r>
          </a:p>
          <a:p>
            <a:pPr marL="342900" indent="-342900">
              <a:buFont typeface="Arial" panose="020B0604020202020204" pitchFamily="34" charset="0"/>
              <a:buChar char="•"/>
            </a:pPr>
            <a:r>
              <a:rPr lang="en-US" sz="2400" b="1"/>
              <a:t>Data privacy </a:t>
            </a:r>
            <a:br>
              <a:rPr lang="en-US" sz="2400" b="1"/>
            </a:br>
            <a:r>
              <a:rPr lang="en-US" sz="2400" b="1"/>
              <a:t>and security</a:t>
            </a:r>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marL="342900" indent="-342900">
              <a:buFont typeface="Arial" panose="020B0604020202020204" pitchFamily="34" charset="0"/>
              <a:buChar char="•"/>
            </a:pPr>
            <a:endParaRPr lang="en-US" sz="2400" b="1"/>
          </a:p>
          <a:p>
            <a:pPr algn="ctr"/>
            <a:endParaRPr lang="en-US" sz="2400" b="1"/>
          </a:p>
          <a:p>
            <a:pPr algn="ctr"/>
            <a:r>
              <a:rPr lang="en-US" sz="2400" b="1"/>
              <a:t>Fig. 3: FHE usages [2]</a:t>
            </a:r>
          </a:p>
          <a:p>
            <a:pPr marL="342900" indent="-342900">
              <a:buFont typeface="Arial" panose="020B0604020202020204" pitchFamily="34" charset="0"/>
              <a:buChar char="•"/>
            </a:pPr>
            <a:endParaRPr lang="en-US" sz="2400" b="1"/>
          </a:p>
        </p:txBody>
      </p:sp>
      <p:pic>
        <p:nvPicPr>
          <p:cNvPr id="2" name="Picture 1">
            <a:extLst>
              <a:ext uri="{FF2B5EF4-FFF2-40B4-BE49-F238E27FC236}">
                <a16:creationId xmlns:a16="http://schemas.microsoft.com/office/drawing/2014/main" id="{2F91F7C1-9B29-9995-A84C-6DADBD07EF09}"/>
              </a:ext>
            </a:extLst>
          </p:cNvPr>
          <p:cNvPicPr>
            <a:picLocks noChangeAspect="1"/>
          </p:cNvPicPr>
          <p:nvPr/>
        </p:nvPicPr>
        <p:blipFill>
          <a:blip r:embed="rId3"/>
          <a:stretch>
            <a:fillRect/>
          </a:stretch>
        </p:blipFill>
        <p:spPr>
          <a:xfrm>
            <a:off x="4350355" y="2540287"/>
            <a:ext cx="6537760" cy="3845740"/>
          </a:xfrm>
          <a:prstGeom prst="rect">
            <a:avLst/>
          </a:prstGeom>
        </p:spPr>
      </p:pic>
    </p:spTree>
    <p:extLst>
      <p:ext uri="{BB962C8B-B14F-4D97-AF65-F5344CB8AC3E}">
        <p14:creationId xmlns:p14="http://schemas.microsoft.com/office/powerpoint/2010/main" val="2964955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5E821412-03D9-FCAD-1681-E55340E05C3E}"/>
              </a:ext>
            </a:extLst>
          </p:cNvPr>
          <p:cNvSpPr txBox="1">
            <a:spLocks/>
          </p:cNvSpPr>
          <p:nvPr/>
        </p:nvSpPr>
        <p:spPr>
          <a:xfrm>
            <a:off x="547283" y="896112"/>
            <a:ext cx="10169485" cy="1024128"/>
          </a:xfrm>
          <a:prstGeom prst="rect">
            <a:avLst/>
          </a:prstGeom>
        </p:spPr>
        <p:txBody>
          <a:bodyPr vert="horz" lIns="91440" tIns="45720" rIns="91440" bIns="45720" rtlCol="0" anchor="b">
            <a:noAutofit/>
          </a:bodyPr>
          <a:lstStyle>
            <a:lvl1pPr algn="l" defTabSz="914400" rtl="0" eaLnBrk="1" latinLnBrk="0" hangingPunct="1">
              <a:lnSpc>
                <a:spcPct val="75000"/>
              </a:lnSpc>
              <a:spcBef>
                <a:spcPct val="0"/>
              </a:spcBef>
              <a:buNone/>
              <a:defRPr sz="4800" kern="1200">
                <a:solidFill>
                  <a:schemeClr val="tx1"/>
                </a:solidFill>
                <a:latin typeface="+mj-lt"/>
                <a:ea typeface="+mj-ea"/>
                <a:cs typeface="+mj-cs"/>
              </a:defRPr>
            </a:lvl1pPr>
          </a:lstStyle>
          <a:p>
            <a:r>
              <a:rPr lang="en-US"/>
              <a:t>Application: MedIntel</a:t>
            </a:r>
            <a:endParaRPr lang="en-US" dirty="0"/>
          </a:p>
        </p:txBody>
      </p:sp>
      <p:sp>
        <p:nvSpPr>
          <p:cNvPr id="9" name="Content Placeholder 2">
            <a:extLst>
              <a:ext uri="{FF2B5EF4-FFF2-40B4-BE49-F238E27FC236}">
                <a16:creationId xmlns:a16="http://schemas.microsoft.com/office/drawing/2014/main" id="{6C123BC1-A3F8-3838-E38D-60F91AA05BF4}"/>
              </a:ext>
            </a:extLst>
          </p:cNvPr>
          <p:cNvSpPr txBox="1">
            <a:spLocks/>
          </p:cNvSpPr>
          <p:nvPr/>
        </p:nvSpPr>
        <p:spPr>
          <a:xfrm>
            <a:off x="802522" y="2540287"/>
            <a:ext cx="10694534" cy="384574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noFill/>
        </p:spPr>
        <p:txBody>
          <a:bodyPr vert="horz" wrap="square"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400" b="1"/>
              <a:t>Technology: </a:t>
            </a:r>
          </a:p>
          <a:p>
            <a:pPr marL="1028700" lvl="1" indent="-342900"/>
            <a:r>
              <a:rPr lang="en-US" b="1"/>
              <a:t>Backend: Python, Concrete (Zama)</a:t>
            </a:r>
          </a:p>
          <a:p>
            <a:pPr marL="1028700" lvl="1" indent="-342900"/>
            <a:r>
              <a:rPr lang="en-US" b="1"/>
              <a:t>Frontend: React, JavaScript, CSS, Bootstrap</a:t>
            </a:r>
          </a:p>
          <a:p>
            <a:pPr marL="342900" indent="-342900">
              <a:buFont typeface="Arial" panose="020B0604020202020204" pitchFamily="34" charset="0"/>
              <a:buChar char="•"/>
            </a:pPr>
            <a:r>
              <a:rPr lang="en-US" sz="2400" b="1"/>
              <a:t>Hospital management analytics application</a:t>
            </a:r>
          </a:p>
          <a:p>
            <a:pPr marL="1028700" lvl="1" indent="-342900"/>
            <a:r>
              <a:rPr lang="en-US" b="1"/>
              <a:t>Measurements: average length of stay, costs per patient, hospital expenses, mortality rate</a:t>
            </a:r>
          </a:p>
          <a:p>
            <a:pPr marL="1028700" lvl="1" indent="-342900"/>
            <a:r>
              <a:rPr lang="en-US" b="1"/>
              <a:t>CRUD operations: add expense, add/update patient hospitalization</a:t>
            </a:r>
          </a:p>
          <a:p>
            <a:pPr marL="1028700" lvl="1" indent="-342900"/>
            <a:r>
              <a:rPr lang="en-US" b="1"/>
              <a:t>Data handling: FHE usage</a:t>
            </a:r>
          </a:p>
        </p:txBody>
      </p:sp>
    </p:spTree>
    <p:extLst>
      <p:ext uri="{BB962C8B-B14F-4D97-AF65-F5344CB8AC3E}">
        <p14:creationId xmlns:p14="http://schemas.microsoft.com/office/powerpoint/2010/main" val="1966913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5924" y="3014863"/>
            <a:ext cx="10360152" cy="828273"/>
          </a:xfrm>
        </p:spPr>
        <p:txBody>
          <a:bodyPr anchor="b"/>
          <a:lstStyle/>
          <a:p>
            <a:r>
              <a:rPr lang="en-US"/>
              <a:t>Application demo: MedIntel</a:t>
            </a:r>
          </a:p>
        </p:txBody>
      </p:sp>
      <p:pic>
        <p:nvPicPr>
          <p:cNvPr id="5" name="Picture 4">
            <a:extLst>
              <a:ext uri="{FF2B5EF4-FFF2-40B4-BE49-F238E27FC236}">
                <a16:creationId xmlns:a16="http://schemas.microsoft.com/office/drawing/2014/main" id="{F3432338-08AF-3312-8338-21ECB42C0614}"/>
              </a:ext>
            </a:extLst>
          </p:cNvPr>
          <p:cNvPicPr>
            <a:picLocks noChangeAspect="1"/>
          </p:cNvPicPr>
          <p:nvPr/>
        </p:nvPicPr>
        <p:blipFill>
          <a:blip r:embed="rId3"/>
          <a:stretch>
            <a:fillRect/>
          </a:stretch>
        </p:blipFill>
        <p:spPr>
          <a:xfrm>
            <a:off x="-133028" y="273803"/>
            <a:ext cx="2784529" cy="2707038"/>
          </a:xfrm>
          <a:prstGeom prst="rect">
            <a:avLst/>
          </a:prstGeom>
        </p:spPr>
      </p:pic>
    </p:spTree>
    <p:extLst>
      <p:ext uri="{BB962C8B-B14F-4D97-AF65-F5344CB8AC3E}">
        <p14:creationId xmlns:p14="http://schemas.microsoft.com/office/powerpoint/2010/main" val="1096717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9B2E5-C039-4BC9-45AA-CA2F2344EC6E}"/>
              </a:ext>
            </a:extLst>
          </p:cNvPr>
          <p:cNvSpPr>
            <a:spLocks noGrp="1"/>
          </p:cNvSpPr>
          <p:nvPr>
            <p:ph type="title"/>
          </p:nvPr>
        </p:nvSpPr>
        <p:spPr>
          <a:xfrm>
            <a:off x="551019" y="1254929"/>
            <a:ext cx="8343599" cy="1218849"/>
          </a:xfrm>
        </p:spPr>
        <p:txBody>
          <a:bodyPr/>
          <a:lstStyle/>
          <a:p>
            <a:r>
              <a:rPr lang="en-US"/>
              <a:t>Conclusions and future enhancements</a:t>
            </a:r>
            <a:endParaRPr lang="en-US" dirty="0"/>
          </a:p>
        </p:txBody>
      </p:sp>
      <p:sp>
        <p:nvSpPr>
          <p:cNvPr id="3" name="Content Placeholder 10">
            <a:extLst>
              <a:ext uri="{FF2B5EF4-FFF2-40B4-BE49-F238E27FC236}">
                <a16:creationId xmlns:a16="http://schemas.microsoft.com/office/drawing/2014/main" id="{F1D9EDDC-2BE3-FBB6-47E9-C602B7B0306B}"/>
              </a:ext>
            </a:extLst>
          </p:cNvPr>
          <p:cNvSpPr txBox="1">
            <a:spLocks/>
          </p:cNvSpPr>
          <p:nvPr/>
        </p:nvSpPr>
        <p:spPr>
          <a:xfrm>
            <a:off x="551019" y="3000336"/>
            <a:ext cx="9136922" cy="246150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b="1"/>
              <a:t>New statistics and measurements</a:t>
            </a:r>
            <a:endParaRPr lang="en-US" b="1" dirty="0"/>
          </a:p>
          <a:p>
            <a:pPr marL="342900" indent="-342900"/>
            <a:r>
              <a:rPr lang="en-US" b="1"/>
              <a:t>Cloud</a:t>
            </a:r>
            <a:endParaRPr lang="en-US" b="1" dirty="0"/>
          </a:p>
          <a:p>
            <a:pPr marL="342900" indent="-342900"/>
            <a:r>
              <a:rPr lang="en-US" b="1"/>
              <a:t>Well-trained AI model</a:t>
            </a:r>
            <a:endParaRPr lang="en-US" dirty="0"/>
          </a:p>
        </p:txBody>
      </p:sp>
    </p:spTree>
    <p:extLst>
      <p:ext uri="{BB962C8B-B14F-4D97-AF65-F5344CB8AC3E}">
        <p14:creationId xmlns:p14="http://schemas.microsoft.com/office/powerpoint/2010/main" val="3464059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214B7-98A4-153C-DE81-C9FFCDCBEECB}"/>
              </a:ext>
            </a:extLst>
          </p:cNvPr>
          <p:cNvSpPr>
            <a:spLocks noGrp="1"/>
          </p:cNvSpPr>
          <p:nvPr>
            <p:ph type="title"/>
          </p:nvPr>
        </p:nvSpPr>
        <p:spPr>
          <a:xfrm>
            <a:off x="2325102" y="2514600"/>
            <a:ext cx="7541796" cy="914400"/>
          </a:xfrm>
        </p:spPr>
        <p:txBody>
          <a:bodyPr/>
          <a:lstStyle/>
          <a:p>
            <a:pPr algn="ctr"/>
            <a:r>
              <a:rPr lang="en-US" sz="4000" dirty="0"/>
              <a:t>Thank you for your attention!</a:t>
            </a:r>
          </a:p>
        </p:txBody>
      </p:sp>
    </p:spTree>
    <p:extLst>
      <p:ext uri="{BB962C8B-B14F-4D97-AF65-F5344CB8AC3E}">
        <p14:creationId xmlns:p14="http://schemas.microsoft.com/office/powerpoint/2010/main" val="2289862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2102F720-276B-0675-943D-18E37E14AE75}"/>
              </a:ext>
            </a:extLst>
          </p:cNvPr>
          <p:cNvGraphicFramePr>
            <a:graphicFrameLocks noGrp="1"/>
          </p:cNvGraphicFramePr>
          <p:nvPr>
            <p:ph sz="quarter" idx="12"/>
            <p:extLst>
              <p:ext uri="{D42A27DB-BD31-4B8C-83A1-F6EECF244321}">
                <p14:modId xmlns:p14="http://schemas.microsoft.com/office/powerpoint/2010/main" val="4105731308"/>
              </p:ext>
            </p:extLst>
          </p:nvPr>
        </p:nvGraphicFramePr>
        <p:xfrm>
          <a:off x="918307" y="86037615"/>
          <a:ext cx="10477816" cy="34455735"/>
        </p:xfrm>
        <a:graphic>
          <a:graphicData uri="http://schemas.openxmlformats.org/drawingml/2006/table">
            <a:tbl>
              <a:tblPr bandRow="1">
                <a:tableStyleId>{2D5ABB26-0587-4C30-8999-92F81FD0307C}</a:tableStyleId>
              </a:tblPr>
              <a:tblGrid>
                <a:gridCol w="276487">
                  <a:extLst>
                    <a:ext uri="{9D8B030D-6E8A-4147-A177-3AD203B41FA5}">
                      <a16:colId xmlns:a16="http://schemas.microsoft.com/office/drawing/2014/main" val="3675907136"/>
                    </a:ext>
                  </a:extLst>
                </a:gridCol>
                <a:gridCol w="2039116">
                  <a:extLst>
                    <a:ext uri="{9D8B030D-6E8A-4147-A177-3AD203B41FA5}">
                      <a16:colId xmlns:a16="http://schemas.microsoft.com/office/drawing/2014/main" val="1813769510"/>
                    </a:ext>
                  </a:extLst>
                </a:gridCol>
                <a:gridCol w="829468">
                  <a:extLst>
                    <a:ext uri="{9D8B030D-6E8A-4147-A177-3AD203B41FA5}">
                      <a16:colId xmlns:a16="http://schemas.microsoft.com/office/drawing/2014/main" val="4061034249"/>
                    </a:ext>
                  </a:extLst>
                </a:gridCol>
                <a:gridCol w="1653182">
                  <a:extLst>
                    <a:ext uri="{9D8B030D-6E8A-4147-A177-3AD203B41FA5}">
                      <a16:colId xmlns:a16="http://schemas.microsoft.com/office/drawing/2014/main" val="303382884"/>
                    </a:ext>
                  </a:extLst>
                </a:gridCol>
                <a:gridCol w="1134760">
                  <a:extLst>
                    <a:ext uri="{9D8B030D-6E8A-4147-A177-3AD203B41FA5}">
                      <a16:colId xmlns:a16="http://schemas.microsoft.com/office/drawing/2014/main" val="586613215"/>
                    </a:ext>
                  </a:extLst>
                </a:gridCol>
                <a:gridCol w="1463093">
                  <a:extLst>
                    <a:ext uri="{9D8B030D-6E8A-4147-A177-3AD203B41FA5}">
                      <a16:colId xmlns:a16="http://schemas.microsoft.com/office/drawing/2014/main" val="244826486"/>
                    </a:ext>
                  </a:extLst>
                </a:gridCol>
                <a:gridCol w="2050634">
                  <a:extLst>
                    <a:ext uri="{9D8B030D-6E8A-4147-A177-3AD203B41FA5}">
                      <a16:colId xmlns:a16="http://schemas.microsoft.com/office/drawing/2014/main" val="2315365722"/>
                    </a:ext>
                  </a:extLst>
                </a:gridCol>
                <a:gridCol w="1031076">
                  <a:extLst>
                    <a:ext uri="{9D8B030D-6E8A-4147-A177-3AD203B41FA5}">
                      <a16:colId xmlns:a16="http://schemas.microsoft.com/office/drawing/2014/main" val="2134810300"/>
                    </a:ext>
                  </a:extLst>
                </a:gridCol>
              </a:tblGrid>
              <a:tr h="200025">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1" i="0" u="none" strike="noStrike">
                          <a:solidFill>
                            <a:srgbClr val="000000"/>
                          </a:solidFill>
                          <a:effectLst/>
                          <a:latin typeface="Aptos Narrow" panose="020B0004020202020204" pitchFamily="34" charset="0"/>
                        </a:rPr>
                        <a:t>Described fault-tolerance mechanism</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1" i="0" u="none" strike="noStrike">
                          <a:solidFill>
                            <a:srgbClr val="000000"/>
                          </a:solidFill>
                          <a:effectLst/>
                          <a:latin typeface="Aptos Narrow" panose="020B0004020202020204" pitchFamily="34" charset="0"/>
                        </a:rPr>
                        <a:t>Addressed types of fault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1" i="0" u="none" strike="noStrike">
                          <a:solidFill>
                            <a:srgbClr val="000000"/>
                          </a:solidFill>
                          <a:effectLst/>
                          <a:latin typeface="Aptos Narrow" panose="020B0004020202020204" pitchFamily="34" charset="0"/>
                        </a:rPr>
                        <a:t>Factors leading to failure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1" i="0" u="none" strike="noStrike">
                          <a:solidFill>
                            <a:srgbClr val="000000"/>
                          </a:solidFill>
                          <a:effectLst/>
                          <a:latin typeface="Aptos Narrow" panose="020B0004020202020204" pitchFamily="34" charset="0"/>
                        </a:rPr>
                        <a:t>Type of IoT system</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1" i="0" u="none" strike="noStrike">
                          <a:solidFill>
                            <a:srgbClr val="000000"/>
                          </a:solidFill>
                          <a:effectLst/>
                          <a:latin typeface="Aptos Narrow" panose="020B0004020202020204" pitchFamily="34" charset="0"/>
                        </a:rPr>
                        <a:t>Evaluation methods </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1" i="0" u="none" strike="noStrike">
                          <a:solidFill>
                            <a:srgbClr val="000000"/>
                          </a:solidFill>
                          <a:effectLst/>
                          <a:latin typeface="Aptos Narrow" panose="020B0004020202020204" pitchFamily="34" charset="0"/>
                        </a:rPr>
                        <a:t>Architecture layer where the fault-tolerance mechanism applies to</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200" b="1" i="0" u="none" strike="noStrike">
                          <a:solidFill>
                            <a:srgbClr val="000000"/>
                          </a:solidFill>
                          <a:effectLst/>
                          <a:latin typeface="Aptos Narrow" panose="020B0004020202020204" pitchFamily="34" charset="0"/>
                        </a:rPr>
                        <a:t>Security considerations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5642967"/>
                  </a:ext>
                </a:extLst>
              </a:tr>
              <a:tr h="733425">
                <a:tc>
                  <a:txBody>
                    <a:bodyPr/>
                    <a:lstStyle/>
                    <a:p>
                      <a:pPr algn="r" fontAlgn="t"/>
                      <a:r>
                        <a:rPr lang="en-US" sz="1100" b="0" i="0" u="none" strike="noStrike">
                          <a:solidFill>
                            <a:srgbClr val="000000"/>
                          </a:solidFill>
                          <a:effectLst/>
                          <a:latin typeface="Aptos Narrow" panose="020B0004020202020204" pitchFamily="34" charset="0"/>
                        </a:rPr>
                        <a:t>1</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AI-driven fault tolerance model using machine learning for proactive fault prediction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Hardware failures, communication faults, data corruption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environmental factores, hardware degradation, network interference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Wireless Sensor Networks(WSNs)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Simulation experiments, performance metrics analysis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Basic security protocols to ensure data integrity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40291648"/>
                  </a:ext>
                </a:extLst>
              </a:tr>
              <a:tr h="371475">
                <a:tc>
                  <a:txBody>
                    <a:bodyPr/>
                    <a:lstStyle/>
                    <a:p>
                      <a:pPr algn="r" fontAlgn="t"/>
                      <a:r>
                        <a:rPr lang="en-US" sz="1100" b="0" i="0" u="none" strike="noStrike">
                          <a:solidFill>
                            <a:srgbClr val="000000"/>
                          </a:solidFill>
                          <a:effectLst/>
                          <a:latin typeface="Aptos Narrow" panose="020B0004020202020204" pitchFamily="34" charset="0"/>
                        </a:rPr>
                        <a:t>2</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Hybrid aproach combining static backups with dynamic timing monitoring to ensure cluster head reliability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Node failures, timing faults, synchronization issues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Node crashes, timing delays, network congestion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Clustered IoT networks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Experimetal setups, reliability and latency measurements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Briefly mentioned availability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2519451"/>
                  </a:ext>
                </a:extLst>
              </a:tr>
              <a:tr h="733425">
                <a:tc>
                  <a:txBody>
                    <a:bodyPr/>
                    <a:lstStyle/>
                    <a:p>
                      <a:pPr algn="r" fontAlgn="t"/>
                      <a:r>
                        <a:rPr lang="en-US" sz="1100" b="0" i="0" u="none" strike="noStrike">
                          <a:solidFill>
                            <a:srgbClr val="000000"/>
                          </a:solidFill>
                          <a:effectLst/>
                          <a:latin typeface="Aptos Narrow" panose="020B0004020202020204" pitchFamily="34" charset="0"/>
                        </a:rPr>
                        <a:t>3</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Uses redundancy and real-time monitoring to ensure continuous data transmission and processing</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Sensor malfunctions, data transmission errors, power failures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Hardware sensor failures, network instability, power outages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mHealth IoT systems(wearable health sensors)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Case studies, real-time performance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Application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Privacy and data security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2268840"/>
                  </a:ext>
                </a:extLst>
              </a:tr>
              <a:tr h="552450">
                <a:tc>
                  <a:txBody>
                    <a:bodyPr/>
                    <a:lstStyle/>
                    <a:p>
                      <a:pPr algn="r" fontAlgn="t"/>
                      <a:r>
                        <a:rPr lang="en-US" sz="1100" b="0" i="0" u="none" strike="noStrike">
                          <a:solidFill>
                            <a:srgbClr val="000000"/>
                          </a:solidFill>
                          <a:effectLst/>
                          <a:latin typeface="Aptos Narrow" panose="020B0004020202020204" pitchFamily="34" charset="0"/>
                        </a:rPr>
                        <a:t>4</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Blockchain-based key management system with redundancy to ensure secure and fault-tolerant key distribution in  LoRaWAN networks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Key management faults, security breaches, unauthorized access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Key compromise, blockchain vulnerabiities, network attack</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LoRaWAN IoT networks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Security analysis, blockchain simulation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Security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Blockchain ensures tamper-proof key management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8574405"/>
                  </a:ext>
                </a:extLst>
              </a:tr>
              <a:tr h="733425">
                <a:tc>
                  <a:txBody>
                    <a:bodyPr/>
                    <a:lstStyle/>
                    <a:p>
                      <a:pPr algn="r" fontAlgn="t"/>
                      <a:r>
                        <a:rPr lang="en-US" sz="1100" b="0" i="0" u="none" strike="noStrike">
                          <a:solidFill>
                            <a:srgbClr val="000000"/>
                          </a:solidFill>
                          <a:effectLst/>
                          <a:latin typeface="Aptos Narrow" panose="020B0004020202020204" pitchFamily="34" charset="0"/>
                        </a:rPr>
                        <a:t>5</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Byzantine fault-tolerance(BFT) mechanisc</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Byzantine faults, node failures, malicious attacks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adversarial attacks, faulty nodes, network partitioning</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Mission-critical IoT applications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Availability analysis, simulation studies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203349"/>
                  </a:ext>
                </a:extLst>
              </a:tr>
              <a:tr h="371475">
                <a:tc>
                  <a:txBody>
                    <a:bodyPr/>
                    <a:lstStyle/>
                    <a:p>
                      <a:pPr algn="r" fontAlgn="t"/>
                      <a:r>
                        <a:rPr lang="en-US" sz="1100" b="0" i="0" u="none" strike="noStrike">
                          <a:solidFill>
                            <a:srgbClr val="000000"/>
                          </a:solidFill>
                          <a:effectLst/>
                          <a:latin typeface="Aptos Narrow" panose="020B0004020202020204" pitchFamily="34" charset="0"/>
                        </a:rPr>
                        <a:t>6</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Fuzzy interferance base approach to enhance BFT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Security related faults, byzantine faults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Security attacks. node compromise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IoT security systems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Fuzzy logic simulations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Security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6182375"/>
                  </a:ext>
                </a:extLst>
              </a:tr>
              <a:tr h="552450">
                <a:tc>
                  <a:txBody>
                    <a:bodyPr/>
                    <a:lstStyle/>
                    <a:p>
                      <a:pPr algn="r" fontAlgn="t"/>
                      <a:r>
                        <a:rPr lang="en-US" sz="1100" b="0" i="0" u="none" strike="noStrike">
                          <a:solidFill>
                            <a:srgbClr val="000000"/>
                          </a:solidFill>
                          <a:effectLst/>
                          <a:latin typeface="Aptos Narrow" panose="020B0004020202020204" pitchFamily="34" charset="0"/>
                        </a:rPr>
                        <a:t>7</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Hierarhical byzantine fault tolerance protocol to improve scalability and reliability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Byzantine faults, malicious node behaviors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 scalability issues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General IoT networks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Simulation studies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8482078"/>
                  </a:ext>
                </a:extLst>
              </a:tr>
              <a:tr h="552450">
                <a:tc>
                  <a:txBody>
                    <a:bodyPr/>
                    <a:lstStyle/>
                    <a:p>
                      <a:pPr algn="r" fontAlgn="t"/>
                      <a:r>
                        <a:rPr lang="en-US" sz="1100" b="0" i="0" u="none" strike="noStrike">
                          <a:solidFill>
                            <a:srgbClr val="000000"/>
                          </a:solidFill>
                          <a:effectLst/>
                          <a:latin typeface="Aptos Narrow" panose="020B0004020202020204" pitchFamily="34" charset="0"/>
                        </a:rPr>
                        <a:t>8</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Optimization algorithm used for reliability, performance and resoure utilization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Resource failure, computational faults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Resource constraints, hardware limitations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Fog computing-based IoT applications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Algorithmic evaluation, simulation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Fog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2710877"/>
                  </a:ext>
                </a:extLst>
              </a:tr>
              <a:tr h="552450">
                <a:tc>
                  <a:txBody>
                    <a:bodyPr/>
                    <a:lstStyle/>
                    <a:p>
                      <a:pPr algn="r" fontAlgn="t"/>
                      <a:r>
                        <a:rPr lang="en-US" sz="1100" b="0" i="0" u="none" strike="noStrike">
                          <a:solidFill>
                            <a:srgbClr val="000000"/>
                          </a:solidFill>
                          <a:effectLst/>
                          <a:latin typeface="Aptos Narrow" panose="020B0004020202020204" pitchFamily="34" charset="0"/>
                        </a:rPr>
                        <a:t>9</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Transmission scheme incorporating redundancy and Software Defined Networking(SDN)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Transmission faults, network failures, data loss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Fiber link issues, wireless interface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Industrial IoT (IoT) networks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Performance testing, SDN simulation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Transmission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Basic security integrated with SDN controls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8227235"/>
                  </a:ext>
                </a:extLst>
              </a:tr>
              <a:tr h="733425">
                <a:tc>
                  <a:txBody>
                    <a:bodyPr/>
                    <a:lstStyle/>
                    <a:p>
                      <a:pPr algn="r" fontAlgn="t"/>
                      <a:r>
                        <a:rPr lang="en-US" sz="1100" b="0" i="0" u="none" strike="noStrike">
                          <a:solidFill>
                            <a:srgbClr val="000000"/>
                          </a:solidFill>
                          <a:effectLst/>
                          <a:latin typeface="Aptos Narrow" panose="020B0004020202020204" pitchFamily="34" charset="0"/>
                        </a:rPr>
                        <a:t>10</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Optimal placement strategies for deploying fault-tolerance components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Resource failure, node faults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Poor placement strategies, resource limitatons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General IoT systems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Optimization models, simulation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Network/application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5789586"/>
                  </a:ext>
                </a:extLst>
              </a:tr>
              <a:tr h="933450">
                <a:tc>
                  <a:txBody>
                    <a:bodyPr/>
                    <a:lstStyle/>
                    <a:p>
                      <a:pPr algn="r" fontAlgn="t"/>
                      <a:r>
                        <a:rPr lang="en-US" sz="1100" b="0" i="0" u="none" strike="noStrike">
                          <a:solidFill>
                            <a:srgbClr val="000000"/>
                          </a:solidFill>
                          <a:effectLst/>
                          <a:latin typeface="Aptos Narrow" panose="020B0004020202020204" pitchFamily="34" charset="0"/>
                        </a:rPr>
                        <a:t>11</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Dynamic Route Protection (DRP)</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 failure (single or multiple link/switch failure)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device faults, link congestion, </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bandwidth issues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Industrial IoT (IoT)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 simulation with </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Mininet-IoT simulation, experimental hardware testbed</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brief mention of resilience and </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cyber-security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255795"/>
                  </a:ext>
                </a:extLst>
              </a:tr>
              <a:tr h="1057275">
                <a:tc>
                  <a:txBody>
                    <a:bodyPr/>
                    <a:lstStyle/>
                    <a:p>
                      <a:pPr algn="r" fontAlgn="t"/>
                      <a:r>
                        <a:rPr lang="en-US" sz="1100" b="0" i="0" u="none" strike="noStrike">
                          <a:solidFill>
                            <a:srgbClr val="000000"/>
                          </a:solidFill>
                          <a:effectLst/>
                          <a:latin typeface="Aptos Narrow" panose="020B0004020202020204" pitchFamily="34" charset="0"/>
                        </a:rPr>
                        <a:t>12</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Fault Tolerant Node Placement Algorithm (FTNPA) with centralised and decentralised variants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sensor node and link failures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battery exhaustion, </a:t>
                      </a:r>
                      <a:br>
                        <a:rPr lang="en-US" sz="1100" b="0" i="0" u="none" strike="noStrike">
                          <a:solidFill>
                            <a:srgbClr val="000000"/>
                          </a:solidFill>
                          <a:effectLst/>
                          <a:latin typeface="Aptos Narrow" panose="020B0004020202020204" pitchFamily="34" charset="0"/>
                        </a:rPr>
                      </a:br>
                      <a:r>
                        <a:rPr lang="en-US" sz="1100" b="0" i="0" u="none" strike="noStrike">
                          <a:solidFill>
                            <a:srgbClr val="000000"/>
                          </a:solidFill>
                          <a:effectLst/>
                          <a:latin typeface="Aptos Narrow" panose="020B0004020202020204" pitchFamily="34" charset="0"/>
                        </a:rPr>
                        <a:t>communication issues, node disconnections.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Wireless sensor network (WSN) based IoT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COOJA simulator for Contki OS nodes, multiple scenarios for both centralised and decentralised variants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4198205"/>
                  </a:ext>
                </a:extLst>
              </a:tr>
              <a:tr h="971550">
                <a:tc>
                  <a:txBody>
                    <a:bodyPr/>
                    <a:lstStyle/>
                    <a:p>
                      <a:pPr algn="r" fontAlgn="t"/>
                      <a:r>
                        <a:rPr lang="en-US" sz="1100" b="0" i="0" u="none" strike="noStrike">
                          <a:solidFill>
                            <a:srgbClr val="000000"/>
                          </a:solidFill>
                          <a:effectLst/>
                          <a:latin typeface="Aptos Narrow" panose="020B0004020202020204" pitchFamily="34" charset="0"/>
                        </a:rPr>
                        <a:t>13</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Complex Patterns of Failure (CPoF): approach providing reactive and proactive fault tolerance using Complex Event Processing (CEP) and Machine Learning (ML)</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all</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any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all</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case study analysis of an indoor agriculture sysem</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data processing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2426429"/>
                  </a:ext>
                </a:extLst>
              </a:tr>
              <a:tr h="1914525">
                <a:tc>
                  <a:txBody>
                    <a:bodyPr/>
                    <a:lstStyle/>
                    <a:p>
                      <a:pPr algn="r" fontAlgn="t"/>
                      <a:r>
                        <a:rPr lang="en-US" sz="1100" b="0" i="0" u="none" strike="noStrike">
                          <a:solidFill>
                            <a:srgbClr val="000000"/>
                          </a:solidFill>
                          <a:effectLst/>
                          <a:latin typeface="Aptos Narrow" panose="020B0004020202020204" pitchFamily="34" charset="0"/>
                        </a:rPr>
                        <a:t>14</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data validation and hardware redundancy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transient or soft faults, permanent or hard faults, intermittent faults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temporary malfunctions that last for a limited period of time and will go away after a while, even if not addressed; physical damage or permanent malfunction in components or design; marginal factors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IoT based positioning system</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analysing and comparing the reliability of the components of the system in their standard architecture and after the adoption of the proposed changes in the study, through the use of simulation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controller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9163658"/>
                  </a:ext>
                </a:extLst>
              </a:tr>
              <a:tr h="1933575">
                <a:tc>
                  <a:txBody>
                    <a:bodyPr/>
                    <a:lstStyle/>
                    <a:p>
                      <a:pPr algn="r" fontAlgn="t"/>
                      <a:r>
                        <a:rPr lang="en-US" sz="1100" b="0" i="0" u="none" strike="noStrike">
                          <a:solidFill>
                            <a:srgbClr val="000000"/>
                          </a:solidFill>
                          <a:effectLst/>
                          <a:latin typeface="Aptos Narrow" panose="020B0004020202020204" pitchFamily="34" charset="0"/>
                        </a:rPr>
                        <a:t>15</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Deep Reinforcement Learning (DRL), cluster-based routing schemes, swarm intelligence algorithms, routing protocols with leader node in ad hoc networks, routing schemes based on the Ant Colony Optimization algorithm, particle swarm optimization (PMSO) routing approach, integrated multi-layer and learning automata routing, Free Poisson Law method</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 failure (single or multiple link/switch failure)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breakdown of the wireless nodes' communication module, battery drain, changes in the network topology, node failure due to natural disasters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cloud-based IoT and WSN-based IoT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comparison of the protocols using qualitative parameters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network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7523252"/>
                  </a:ext>
                </a:extLst>
              </a:tr>
              <a:tr h="885825">
                <a:tc>
                  <a:txBody>
                    <a:bodyPr/>
                    <a:lstStyle/>
                    <a:p>
                      <a:pPr algn="r" fontAlgn="t"/>
                      <a:r>
                        <a:rPr lang="en-US" sz="1100" b="0" i="0" u="none" strike="noStrike">
                          <a:solidFill>
                            <a:srgbClr val="000000"/>
                          </a:solidFill>
                          <a:effectLst/>
                          <a:latin typeface="Aptos Narrow" panose="020B0004020202020204" pitchFamily="34" charset="0"/>
                        </a:rPr>
                        <a:t>16</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diagnosing faulty nodes and excluding them from the system</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sensor faults, actuator faults, processing elements faults, communication links and system faults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military IoT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COOJA simulator, measuring parameters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sensor layer, network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5397393"/>
                  </a:ext>
                </a:extLst>
              </a:tr>
              <a:tr h="1257300">
                <a:tc>
                  <a:txBody>
                    <a:bodyPr/>
                    <a:lstStyle/>
                    <a:p>
                      <a:pPr algn="r" fontAlgn="t"/>
                      <a:r>
                        <a:rPr lang="en-US" sz="1100" b="0" i="0" u="none" strike="noStrike">
                          <a:solidFill>
                            <a:srgbClr val="000000"/>
                          </a:solidFill>
                          <a:effectLst/>
                          <a:latin typeface="Aptos Narrow" panose="020B0004020202020204" pitchFamily="34" charset="0"/>
                        </a:rPr>
                        <a:t>17</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backup routing between nodes and advanced service mechanisms to maintain connectivity in case of failing connections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malfunction of sink node hardware, traffic bottleneck at a node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mechanical failures, high receiving data rates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medical IoT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case study with scenarios that include different configurations among the nodes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gateway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279568"/>
                  </a:ext>
                </a:extLst>
              </a:tr>
              <a:tr h="1009650">
                <a:tc>
                  <a:txBody>
                    <a:bodyPr/>
                    <a:lstStyle/>
                    <a:p>
                      <a:pPr algn="r" fontAlgn="t"/>
                      <a:r>
                        <a:rPr lang="en-US" sz="1100" b="0" i="0" u="none" strike="noStrike">
                          <a:solidFill>
                            <a:srgbClr val="000000"/>
                          </a:solidFill>
                          <a:effectLst/>
                          <a:latin typeface="Aptos Narrow" panose="020B0004020202020204" pitchFamily="34" charset="0"/>
                        </a:rPr>
                        <a:t>18</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fault-tolerant mechanism to increase the reliability of data transmission between fog devices that combines Directed Diffusion and Limited Flooding algorithms.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node/link failures, data packet loss.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relay node malfunction, data transmission errors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medical IoT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experimental simulations, performance comparison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Fog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Aptos Narrow" panose="020B0004020202020204" pitchFamily="34" charset="0"/>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618727"/>
                  </a:ext>
                </a:extLst>
              </a:tr>
              <a:tr h="1438275">
                <a:tc>
                  <a:txBody>
                    <a:bodyPr/>
                    <a:lstStyle/>
                    <a:p>
                      <a:pPr algn="r" fontAlgn="t"/>
                      <a:r>
                        <a:rPr lang="en-US" sz="1100" b="0" i="0" u="none" strike="noStrike">
                          <a:solidFill>
                            <a:srgbClr val="000000"/>
                          </a:solidFill>
                          <a:effectLst/>
                          <a:latin typeface="Aptos Narrow" panose="020B0004020202020204" pitchFamily="34" charset="0"/>
                        </a:rPr>
                        <a:t>19</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distributed agent-based fault-tolerance.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device faults, measurement anomalies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corruption of one or more electronic components, environmental effect on measurement due to a noise or software problem</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medical IoT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experimental simulation, fault injection experiments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application and monitoring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use of message signing for non-repudiation.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8029103"/>
                  </a:ext>
                </a:extLst>
              </a:tr>
              <a:tr h="1857375">
                <a:tc>
                  <a:txBody>
                    <a:bodyPr/>
                    <a:lstStyle/>
                    <a:p>
                      <a:pPr algn="r" fontAlgn="t"/>
                      <a:r>
                        <a:rPr lang="en-US" sz="1100" b="0" i="0" u="none" strike="noStrike">
                          <a:solidFill>
                            <a:srgbClr val="000000"/>
                          </a:solidFill>
                          <a:effectLst/>
                          <a:latin typeface="Aptos Narrow" panose="020B0004020202020204" pitchFamily="34" charset="0"/>
                        </a:rPr>
                        <a:t>20</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fault-prevention by applying appropriate quality assurance techniques during the design and implementation process or by performing fault forecasting and removing a system component that is most likely to crash; fault-masking based on redundancy methods; fault monitoring with watchdog timers; fault detection and diagnosis.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hardware/software faults, transient and permanent, communication faults.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economic factors, unpredictability of a military operational environment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military IoT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none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all layers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integration with reliability, distributed trust, and cryptographic mechanisms.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4739141"/>
                  </a:ext>
                </a:extLst>
              </a:tr>
              <a:tr h="552450">
                <a:tc>
                  <a:txBody>
                    <a:bodyPr/>
                    <a:lstStyle/>
                    <a:p>
                      <a:pPr algn="r" fontAlgn="t"/>
                      <a:r>
                        <a:rPr lang="en-US" sz="1100" b="0" i="0" u="none" strike="noStrike">
                          <a:solidFill>
                            <a:srgbClr val="000000"/>
                          </a:solidFill>
                          <a:effectLst/>
                          <a:latin typeface="Aptos Narrow" panose="020B0004020202020204" pitchFamily="34" charset="0"/>
                        </a:rPr>
                        <a:t>21</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Energy-Aware Available and Fault-Tolerant System with Message Scheduling (EAAFTMS) that enhances IoT system reliability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Node failures, communication failures, energy depletion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Energy constraints, data loss in transmission, dynamic network conditions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Wireless Sensor Networks (WSNs)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Simulation via MATLAB, network lifetime, energy dissipation, number of alive nodes and brokers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network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Data backup and availability, fault recovery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3008440"/>
                  </a:ext>
                </a:extLst>
              </a:tr>
              <a:tr h="733425">
                <a:tc>
                  <a:txBody>
                    <a:bodyPr/>
                    <a:lstStyle/>
                    <a:p>
                      <a:pPr algn="r" fontAlgn="t"/>
                      <a:r>
                        <a:rPr lang="en-US" sz="1100" b="0" i="0" u="none" strike="noStrike">
                          <a:solidFill>
                            <a:srgbClr val="000000"/>
                          </a:solidFill>
                          <a:effectLst/>
                          <a:latin typeface="Aptos Narrow" panose="020B0004020202020204" pitchFamily="34" charset="0"/>
                        </a:rPr>
                        <a:t>22</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Fault-tolerant privacy-preserving data aggregation scheme (PDAF) based on the Paillier homomorphic encryption algorithm</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False data injection attacks, device failures, and data modification attacks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False data injections, IoT device breakdowns, and compromised communication channels due to network vulnerabilities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Fog computing-based IoT environment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Computational cost, communication overhead, and privacy preservation efficiency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Fog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Paillier homomorphic encryption, batch verification techniques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7291528"/>
                  </a:ext>
                </a:extLst>
              </a:tr>
              <a:tr h="552450">
                <a:tc>
                  <a:txBody>
                    <a:bodyPr/>
                    <a:lstStyle/>
                    <a:p>
                      <a:pPr algn="r" fontAlgn="t"/>
                      <a:r>
                        <a:rPr lang="en-US" sz="1100" b="0" i="0" u="none" strike="noStrike">
                          <a:solidFill>
                            <a:srgbClr val="000000"/>
                          </a:solidFill>
                          <a:effectLst/>
                          <a:latin typeface="Aptos Narrow" panose="020B0004020202020204" pitchFamily="34" charset="0"/>
                        </a:rPr>
                        <a:t>23</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Hybrid fault-tolerance architecture called PRP-FRC that integrates both reactive and proactive policies to enhance reliability in IoT systemsA</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Hardware Failures, software failures, communication failures, real-time failures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High dependency on wireless communication, cyberattacks, environmental factors, scalability challenges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real-time industrial IoT systems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CloudSim simulator, Pegasus-WMS simulator, fuzzy logic</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communication platform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Cybersecurity measures, reliability testing</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150878"/>
                  </a:ext>
                </a:extLst>
              </a:tr>
              <a:tr h="552450">
                <a:tc>
                  <a:txBody>
                    <a:bodyPr/>
                    <a:lstStyle/>
                    <a:p>
                      <a:pPr algn="r" fontAlgn="t"/>
                      <a:r>
                        <a:rPr lang="en-US" sz="1100" b="0" i="0" u="none" strike="noStrike">
                          <a:solidFill>
                            <a:srgbClr val="000000"/>
                          </a:solidFill>
                          <a:effectLst/>
                          <a:latin typeface="Aptos Narrow" panose="020B0004020202020204" pitchFamily="34" charset="0"/>
                        </a:rPr>
                        <a:t>24</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Adaptive safety fault diagnosis model for industrial control systems based on ensemble learning</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Mechanical failures, dynamic parameter failures, sensor-generated fault signals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Dynamic environmental changes, complex interactions between components, system scalability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Industrial Internet of Things (IIoT) systems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CWRU Bearing Fault dataset, dynamic testing, diagnostic accuracy comparison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application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System reliability, fault detection accuracy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4138017"/>
                  </a:ext>
                </a:extLst>
              </a:tr>
              <a:tr h="552450">
                <a:tc>
                  <a:txBody>
                    <a:bodyPr/>
                    <a:lstStyle/>
                    <a:p>
                      <a:pPr algn="r" fontAlgn="t"/>
                      <a:r>
                        <a:rPr lang="en-US" sz="1100" b="0" i="0" u="none" strike="noStrike">
                          <a:solidFill>
                            <a:srgbClr val="000000"/>
                          </a:solidFill>
                          <a:effectLst/>
                          <a:latin typeface="Aptos Narrow" panose="020B0004020202020204" pitchFamily="34" charset="0"/>
                        </a:rPr>
                        <a:t>25</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Fault-tolerance through Kubernetes' Horizontal Pod Autoscaling (HPA) and replica mechanisms, allowing services to scale automatically based on workload</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Node disruptions, application-level failures, and container crashes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Resource exhaustion, network traffic overload, misconfigurations within the Kubernetes cluster, limitations in cluster scalability and replication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Smart home IoT system</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Response time, CPU/memory usage, disk saturation, and successful request rates analysis using Grafana and Prometheus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Kubernetes orchestration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Attribute-based policies at the application level, Zero Trust principles, role-based access control, and resource isolation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6881099"/>
                  </a:ext>
                </a:extLst>
              </a:tr>
              <a:tr h="552450">
                <a:tc>
                  <a:txBody>
                    <a:bodyPr/>
                    <a:lstStyle/>
                    <a:p>
                      <a:pPr algn="r" fontAlgn="t"/>
                      <a:r>
                        <a:rPr lang="en-US" sz="1100" b="0" i="0" u="none" strike="noStrike">
                          <a:solidFill>
                            <a:srgbClr val="000000"/>
                          </a:solidFill>
                          <a:effectLst/>
                          <a:latin typeface="Aptos Narrow" panose="020B0004020202020204" pitchFamily="34" charset="0"/>
                        </a:rPr>
                        <a:t>26</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Byzantine Fault-Tolerance (BFT)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Byzantine Faults,  Omission Faults, Malicious Attacks,Cloud Outages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Malicious Insider Behavior,  Distributed Nature, Cloud Dependence, Network Delays, Resource Constraints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Real-time monitoring in agriculture,  Smart city infrastructure. Industrial IoT systems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Voting Algorithm, Byzantine Fault Simulation, Communication Complexity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Edge Tier, Cloud Tier, Device Tier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Encryption, Authentication, Byzantine Fault Protection, Resilience to Cloud Outages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111170"/>
                  </a:ext>
                </a:extLst>
              </a:tr>
              <a:tr h="552450">
                <a:tc>
                  <a:txBody>
                    <a:bodyPr/>
                    <a:lstStyle/>
                    <a:p>
                      <a:pPr algn="r" fontAlgn="t"/>
                      <a:r>
                        <a:rPr lang="en-US" sz="1100" b="0" i="0" u="none" strike="noStrike">
                          <a:solidFill>
                            <a:srgbClr val="000000"/>
                          </a:solidFill>
                          <a:effectLst/>
                          <a:latin typeface="Aptos Narrow" panose="020B0004020202020204" pitchFamily="34" charset="0"/>
                        </a:rPr>
                        <a:t>27</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Stateless Microservices, Dynamic Agent Recovery, Kubernetes Orchestration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Platform Faults, Agent Faults, Hardware Failures, Distributed System Failures: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Scalability Bottlenecks, Hardware Constraints, Synchronization Overheads, Faulty Components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SwarmGrid-X (decentralized control system for power grids), Agent-Based IoT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Benchmarks, SwarmGrid-X Simulation, Agent communication time, DF response time, and agent recovery time after failure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Platform Layer, Application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Isolated Containers, Distributed Data Storage, Network Security, State Consistency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8106114"/>
                  </a:ext>
                </a:extLst>
              </a:tr>
              <a:tr h="552450">
                <a:tc>
                  <a:txBody>
                    <a:bodyPr/>
                    <a:lstStyle/>
                    <a:p>
                      <a:pPr algn="r" fontAlgn="t"/>
                      <a:r>
                        <a:rPr lang="en-US" sz="1100" b="0" i="0" u="none" strike="noStrike">
                          <a:solidFill>
                            <a:srgbClr val="000000"/>
                          </a:solidFill>
                          <a:effectLst/>
                          <a:latin typeface="Aptos Narrow" panose="020B0004020202020204" pitchFamily="34" charset="0"/>
                        </a:rPr>
                        <a:t>28</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Energy-Efficient Checkpoint Restore and Backup with Classification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System Faults, Execution Faults, Network Faults, Energy-Related Failures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Fog Device Failures, Heavy Workloads, Energy Inefficiency, Network Bottlenecks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Video Surveillance/Object Tracking, Smart Cities and Industrial IoT Systems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Simulation Environment, Energy Consumption, Execution Cost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Fog Layer, Cloud Layer, Device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Primary and Backup Isolation, Redundancy, Efficient Load Balancing, Energy Optimization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5550"/>
                  </a:ext>
                </a:extLst>
              </a:tr>
              <a:tr h="552450">
                <a:tc>
                  <a:txBody>
                    <a:bodyPr/>
                    <a:lstStyle/>
                    <a:p>
                      <a:pPr algn="r" fontAlgn="t"/>
                      <a:r>
                        <a:rPr lang="en-US" sz="1100" b="0" i="0" u="none" strike="noStrike">
                          <a:solidFill>
                            <a:srgbClr val="000000"/>
                          </a:solidFill>
                          <a:effectLst/>
                          <a:latin typeface="Aptos Narrow" panose="020B0004020202020204" pitchFamily="34" charset="0"/>
                        </a:rPr>
                        <a:t>29</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Practical Byzantine Fault Tolerance (PBFT) algorithm to enhance fault tolerance in IoT intrusion detection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Denial of service (DoS), unauthorized access, and inconsistencies in node data</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Malicious node behavior, high false-positive rates in intrusion detection, and energy consumption inefficiencies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Mobile Internet of Things (IoT) environment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Detection rate, false positive rate, and energy consumption analysis by simulating various attack scenarios under different node and cluster configurations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Application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Aptos Narrow" panose="020B0004020202020204" pitchFamily="34" charset="0"/>
                        </a:rPr>
                        <a:t>Game theory-based strategy for attacker and intrusion detection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7833733"/>
                  </a:ext>
                </a:extLst>
              </a:tr>
              <a:tr h="923925">
                <a:tc>
                  <a:txBody>
                    <a:bodyPr/>
                    <a:lstStyle/>
                    <a:p>
                      <a:pPr algn="r" fontAlgn="t"/>
                      <a:r>
                        <a:rPr lang="en-US" sz="1100" b="0" i="0" u="none" strike="noStrike">
                          <a:solidFill>
                            <a:srgbClr val="000000"/>
                          </a:solidFill>
                          <a:effectLst/>
                          <a:latin typeface="Aptos Narrow" panose="020B0004020202020204" pitchFamily="34" charset="0"/>
                        </a:rPr>
                        <a:t>30</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Fault-tolerant privacy-preserving data aggregation scheme (PDAF) based on the Paillier homomorphic encryption algorithm</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False data injection attacks, device failures, and data modification attacks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False data injections, IoT device breakdowns, and compromised communication channels due to network vulnerabilities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Fog computing-based IoT environment</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Computational cost, communication overhead, and privacy preservation efficiency</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Fog layer</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Aptos Narrow" panose="020B0004020202020204" pitchFamily="34" charset="0"/>
                        </a:rPr>
                        <a:t>Paillier homomorphic encryption, batch verification techniques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8721019"/>
                  </a:ext>
                </a:extLst>
              </a:tr>
            </a:tbl>
          </a:graphicData>
        </a:graphic>
      </p:graphicFrame>
      <p:sp>
        <p:nvSpPr>
          <p:cNvPr id="4" name="TextBox 3">
            <a:extLst>
              <a:ext uri="{FF2B5EF4-FFF2-40B4-BE49-F238E27FC236}">
                <a16:creationId xmlns:a16="http://schemas.microsoft.com/office/drawing/2014/main" id="{EC4A1052-69D4-3D63-55DE-3445149BDE6C}"/>
              </a:ext>
            </a:extLst>
          </p:cNvPr>
          <p:cNvSpPr txBox="1"/>
          <p:nvPr/>
        </p:nvSpPr>
        <p:spPr>
          <a:xfrm>
            <a:off x="1363437" y="2220686"/>
            <a:ext cx="1033816" cy="369332"/>
          </a:xfrm>
          <a:prstGeom prst="rect">
            <a:avLst/>
          </a:prstGeom>
          <a:noFill/>
        </p:spPr>
        <p:txBody>
          <a:bodyPr wrap="square" rtlCol="0">
            <a:spAutoFit/>
          </a:bodyPr>
          <a:lstStyle/>
          <a:p>
            <a:endParaRPr lang="en-RO" dirty="0"/>
          </a:p>
        </p:txBody>
      </p:sp>
      <p:sp>
        <p:nvSpPr>
          <p:cNvPr id="8" name="Content Placeholder 10">
            <a:extLst>
              <a:ext uri="{FF2B5EF4-FFF2-40B4-BE49-F238E27FC236}">
                <a16:creationId xmlns:a16="http://schemas.microsoft.com/office/drawing/2014/main" id="{819FDD4C-97BB-FCF0-AA37-C82616D06803}"/>
              </a:ext>
            </a:extLst>
          </p:cNvPr>
          <p:cNvSpPr txBox="1">
            <a:spLocks/>
          </p:cNvSpPr>
          <p:nvPr/>
        </p:nvSpPr>
        <p:spPr>
          <a:xfrm>
            <a:off x="616332" y="2718707"/>
            <a:ext cx="8127617" cy="278002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endParaRPr lang="en-US" dirty="0"/>
          </a:p>
        </p:txBody>
      </p:sp>
      <p:sp>
        <p:nvSpPr>
          <p:cNvPr id="9" name="Title 2">
            <a:extLst>
              <a:ext uri="{FF2B5EF4-FFF2-40B4-BE49-F238E27FC236}">
                <a16:creationId xmlns:a16="http://schemas.microsoft.com/office/drawing/2014/main" id="{BE6B6706-1966-CEE2-339A-BA96E390DC57}"/>
              </a:ext>
            </a:extLst>
          </p:cNvPr>
          <p:cNvSpPr txBox="1">
            <a:spLocks/>
          </p:cNvSpPr>
          <p:nvPr/>
        </p:nvSpPr>
        <p:spPr>
          <a:xfrm>
            <a:off x="547283" y="896112"/>
            <a:ext cx="10169485" cy="1024128"/>
          </a:xfrm>
          <a:prstGeom prst="rect">
            <a:avLst/>
          </a:prstGeom>
        </p:spPr>
        <p:txBody>
          <a:bodyPr vert="horz" lIns="91440" tIns="45720" rIns="91440" bIns="45720" rtlCol="0" anchor="b">
            <a:noAutofit/>
          </a:bodyPr>
          <a:lstStyle>
            <a:lvl1pPr algn="l" defTabSz="914400" rtl="0" eaLnBrk="1" latinLnBrk="0" hangingPunct="1">
              <a:lnSpc>
                <a:spcPct val="75000"/>
              </a:lnSpc>
              <a:spcBef>
                <a:spcPct val="0"/>
              </a:spcBef>
              <a:buNone/>
              <a:defRPr sz="4800" kern="1200">
                <a:solidFill>
                  <a:schemeClr val="tx1"/>
                </a:solidFill>
                <a:latin typeface="+mj-lt"/>
                <a:ea typeface="+mj-ea"/>
                <a:cs typeface="+mj-cs"/>
              </a:defRPr>
            </a:lvl1pPr>
          </a:lstStyle>
          <a:p>
            <a:r>
              <a:rPr lang="en-US"/>
              <a:t>Bibliography</a:t>
            </a:r>
            <a:endParaRPr lang="en-US" dirty="0"/>
          </a:p>
        </p:txBody>
      </p:sp>
      <p:sp>
        <p:nvSpPr>
          <p:cNvPr id="10" name="Content Placeholder 2">
            <a:extLst>
              <a:ext uri="{FF2B5EF4-FFF2-40B4-BE49-F238E27FC236}">
                <a16:creationId xmlns:a16="http://schemas.microsoft.com/office/drawing/2014/main" id="{8FBE1AB2-E57F-2CD7-6FC5-790F5CCDA39E}"/>
              </a:ext>
            </a:extLst>
          </p:cNvPr>
          <p:cNvSpPr txBox="1">
            <a:spLocks/>
          </p:cNvSpPr>
          <p:nvPr/>
        </p:nvSpPr>
        <p:spPr>
          <a:xfrm>
            <a:off x="802522" y="2540287"/>
            <a:ext cx="10694534" cy="384574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vert="horz" wrap="square"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r>
              <a:rPr lang="en-US" sz="2400" b="1"/>
              <a:t>Jakub Klemsa. “Hitchhiker’s guide to the tfhe scheme”. Journal of Cryptographic Engineering, 2023.</a:t>
            </a:r>
          </a:p>
          <a:p>
            <a:pPr marL="457200" indent="-457200">
              <a:buFont typeface="+mj-lt"/>
              <a:buAutoNum type="arabicPeriod"/>
            </a:pPr>
            <a:r>
              <a:rPr lang="en-US" sz="2400" b="1"/>
              <a:t>Rafik Hamza, Alzubair Hassan, Awad Ali, Mohammed Bashir, Samar M. Alqhtani, Tawfeeg Mohmmed, and Adil Yousif. “Towards secure big data analysis via fully homomorphic encryption algorithms”. Entropy, 24:519, 04 2022.</a:t>
            </a:r>
          </a:p>
        </p:txBody>
      </p:sp>
    </p:spTree>
    <p:extLst>
      <p:ext uri="{BB962C8B-B14F-4D97-AF65-F5344CB8AC3E}">
        <p14:creationId xmlns:p14="http://schemas.microsoft.com/office/powerpoint/2010/main" val="28304696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openxmlformats.org/package/2006/metadata/core-properties"/>
    <ds:schemaRef ds:uri="16c05727-aa75-4e4a-9b5f-8a80a1165891"/>
    <ds:schemaRef ds:uri="http://schemas.microsoft.com/office/2006/documentManagement/types"/>
    <ds:schemaRef ds:uri="http://purl.org/dc/elements/1.1/"/>
    <ds:schemaRef ds:uri="http://purl.org/dc/terms/"/>
    <ds:schemaRef ds:uri="http://www.w3.org/XML/1998/namespace"/>
    <ds:schemaRef ds:uri="http://schemas.microsoft.com/office/infopath/2007/PartnerControls"/>
    <ds:schemaRef ds:uri="230e9df3-be65-4c73-a93b-d1236ebd677e"/>
    <ds:schemaRef ds:uri="71af3243-3dd4-4a8d-8c0d-dd76da1f02a5"/>
    <ds:schemaRef ds:uri="http://schemas.microsoft.com/sharepoint/v3"/>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e32dd7c-41f6-492d-a1a3-c58eb02cf4f8}" enabled="0" method="" siteId="{3e32dd7c-41f6-492d-a1a3-c58eb02cf4f8}" removed="1"/>
</clbl:labelList>
</file>

<file path=docProps/app.xml><?xml version="1.0" encoding="utf-8"?>
<Properties xmlns="http://schemas.openxmlformats.org/officeDocument/2006/extended-properties" xmlns:vt="http://schemas.openxmlformats.org/officeDocument/2006/docPropsVTypes">
  <Template>{C1F0D087-6F5D-484B-9201-0251797E47B2}tf11964407_win32</Template>
  <TotalTime>742</TotalTime>
  <Words>2259</Words>
  <Application>Microsoft Macintosh PowerPoint</Application>
  <PresentationFormat>Widescreen</PresentationFormat>
  <Paragraphs>313</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 Narrow</vt:lpstr>
      <vt:lpstr>Arial</vt:lpstr>
      <vt:lpstr>Calibri</vt:lpstr>
      <vt:lpstr>Cambria Math</vt:lpstr>
      <vt:lpstr>Courier New</vt:lpstr>
      <vt:lpstr>Gill Sans Nova Light</vt:lpstr>
      <vt:lpstr>Sagona Book</vt:lpstr>
      <vt:lpstr>Custom</vt:lpstr>
      <vt:lpstr>Fully Homomorphic Encryption in a hospital management and analysis platform</vt:lpstr>
      <vt:lpstr>Table of contents</vt:lpstr>
      <vt:lpstr>PowerPoint Presentation</vt:lpstr>
      <vt:lpstr>PowerPoint Presentation</vt:lpstr>
      <vt:lpstr>PowerPoint Presentation</vt:lpstr>
      <vt:lpstr>PowerPoint Presentation</vt:lpstr>
      <vt:lpstr>PowerPoint Presentation</vt:lpstr>
      <vt:lpstr>Application demo: MedIntel</vt:lpstr>
      <vt:lpstr>Conclusions and future enhancements</vt:lpstr>
      <vt:lpstr>Thank you for your attention!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Fault-Tolerance Mechanisms in IoT Systems:</dc:title>
  <dc:creator>Andreea Sturze</dc:creator>
  <cp:lastModifiedBy>Elena Isaia</cp:lastModifiedBy>
  <cp:revision>176</cp:revision>
  <dcterms:created xsi:type="dcterms:W3CDTF">2025-01-26T17:46:35Z</dcterms:created>
  <dcterms:modified xsi:type="dcterms:W3CDTF">2026-07-01T08:58:43Z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